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1" r:id="rId7"/>
    <p:sldId id="274" r:id="rId8"/>
    <p:sldId id="273" r:id="rId9"/>
    <p:sldId id="270" r:id="rId10"/>
    <p:sldId id="269" r:id="rId11"/>
    <p:sldId id="264" r:id="rId12"/>
    <p:sldId id="263" r:id="rId13"/>
    <p:sldId id="265" r:id="rId14"/>
    <p:sldId id="266" r:id="rId15"/>
  </p:sldIdLst>
  <p:sldSz cx="18288000" cy="10287000"/>
  <p:notesSz cx="6858000" cy="9144000"/>
  <p:embeddedFontLst>
    <p:embeddedFont>
      <p:font typeface="Arial Bold" panose="020B0704020202020204" pitchFamily="34" charset="0"/>
      <p:regular r:id="rId17"/>
      <p:bold r:id="rId18"/>
    </p:embeddedFont>
    <p:embeddedFont>
      <p:font typeface="Arial Bold Italics" panose="020B0704020202090204" pitchFamily="34" charset="0"/>
      <p:regular r:id="rId19"/>
      <p:bold r:id="rId20"/>
      <p:italic r:id="rId21"/>
      <p:boldItalic r:id="rId22"/>
    </p:embeddedFont>
    <p:embeddedFont>
      <p:font typeface="Arial Italics" panose="020B0604020202090204" pitchFamily="34" charset="0"/>
      <p:regular r:id="rId23"/>
      <p:italic r:id="rId24"/>
    </p:embeddedFont>
    <p:embeddedFont>
      <p:font typeface="Montserrat Bold Italics" pitchFamily="2" charset="77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27" autoAdjust="0"/>
    <p:restoredTop sz="94658" autoAdjust="0"/>
  </p:normalViewPr>
  <p:slideViewPr>
    <p:cSldViewPr>
      <p:cViewPr varScale="1">
        <p:scale>
          <a:sx n="71" d="100"/>
          <a:sy n="71" d="100"/>
        </p:scale>
        <p:origin x="1024" y="4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.jpe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5" Type="http://schemas.openxmlformats.org/officeDocument/2006/relationships/image" Target="../media/image26.png"/><Relationship Id="rId4" Type="http://schemas.openxmlformats.org/officeDocument/2006/relationships/slide" Target="slide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.jpeg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803" t="-6263" r="-93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2697" y="9319074"/>
            <a:ext cx="18313403" cy="1031243"/>
            <a:chOff x="0" y="0"/>
            <a:chExt cx="24417871" cy="13749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17910" cy="1375029"/>
            </a:xfrm>
            <a:custGeom>
              <a:avLst/>
              <a:gdLst/>
              <a:ahLst/>
              <a:cxnLst/>
              <a:rect l="l" t="t" r="r" b="b"/>
              <a:pathLst>
                <a:path w="24417910" h="1375029">
                  <a:moveTo>
                    <a:pt x="0" y="0"/>
                  </a:moveTo>
                  <a:lnTo>
                    <a:pt x="24417910" y="0"/>
                  </a:lnTo>
                  <a:lnTo>
                    <a:pt x="24417910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0A0A0A"/>
            </a:solidFill>
            <a:ln w="25400" cap="sq">
              <a:solidFill>
                <a:srgbClr val="0A0A0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" y="9514656"/>
            <a:ext cx="16459200" cy="640080"/>
            <a:chOff x="0" y="0"/>
            <a:chExt cx="21945600" cy="853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4560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mdd.io   |   844-292-7110   |   We Find Keys &amp; Cars™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0421984" y="1781175"/>
            <a:ext cx="5979431" cy="1518942"/>
          </a:xfrm>
          <a:custGeom>
            <a:avLst/>
            <a:gdLst/>
            <a:ahLst/>
            <a:cxnLst/>
            <a:rect l="l" t="t" r="r" b="b"/>
            <a:pathLst>
              <a:path w="5979431" h="1518942">
                <a:moveTo>
                  <a:pt x="0" y="0"/>
                </a:moveTo>
                <a:lnTo>
                  <a:pt x="5979430" y="0"/>
                </a:lnTo>
                <a:lnTo>
                  <a:pt x="5979430" y="1518942"/>
                </a:lnTo>
                <a:lnTo>
                  <a:pt x="0" y="1518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7486" r="748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 rot="5400000">
            <a:off x="9195458" y="-654476"/>
            <a:ext cx="49910" cy="20012384"/>
            <a:chOff x="0" y="0"/>
            <a:chExt cx="34292" cy="137498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330" cy="13749910"/>
            </a:xfrm>
            <a:custGeom>
              <a:avLst/>
              <a:gdLst/>
              <a:ahLst/>
              <a:cxnLst/>
              <a:rect l="l" t="t" r="r" b="b"/>
              <a:pathLst>
                <a:path w="34330" h="13749910">
                  <a:moveTo>
                    <a:pt x="0" y="0"/>
                  </a:moveTo>
                  <a:lnTo>
                    <a:pt x="34330" y="0"/>
                  </a:lnTo>
                  <a:lnTo>
                    <a:pt x="34330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8AC833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602684" y="1009650"/>
            <a:ext cx="280901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3"/>
              </a:lnSpc>
            </a:pPr>
            <a:r>
              <a:rPr lang="en-US" sz="3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Introducing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13120" y="8577809"/>
            <a:ext cx="5446976" cy="607916"/>
            <a:chOff x="0" y="0"/>
            <a:chExt cx="7262634" cy="810554"/>
          </a:xfrm>
        </p:grpSpPr>
        <p:sp>
          <p:nvSpPr>
            <p:cNvPr id="13" name="Freeform 13"/>
            <p:cNvSpPr/>
            <p:nvPr/>
          </p:nvSpPr>
          <p:spPr>
            <a:xfrm>
              <a:off x="0" y="339251"/>
              <a:ext cx="2356516" cy="471303"/>
            </a:xfrm>
            <a:custGeom>
              <a:avLst/>
              <a:gdLst/>
              <a:ahLst/>
              <a:cxnLst/>
              <a:rect l="l" t="t" r="r" b="b"/>
              <a:pathLst>
                <a:path w="2356516" h="471303">
                  <a:moveTo>
                    <a:pt x="0" y="0"/>
                  </a:moveTo>
                  <a:lnTo>
                    <a:pt x="2356516" y="0"/>
                  </a:lnTo>
                  <a:lnTo>
                    <a:pt x="2356516" y="471303"/>
                  </a:lnTo>
                  <a:lnTo>
                    <a:pt x="0" y="471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16528" r="165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7262634" cy="3069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30"/>
                </a:lnSpc>
              </a:pPr>
              <a:r>
                <a:rPr lang="en-US" sz="1450" b="1" i="1" spc="44">
                  <a:solidFill>
                    <a:srgbClr val="FFFFFF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Powered by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036801" y="5975755"/>
            <a:ext cx="7089735" cy="2058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1"/>
              </a:lnSpc>
            </a:pPr>
            <a:r>
              <a:rPr lang="en-US" sz="2994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 new generation solution that speeds transaction time, eliminates loss key expense, improves service outcomes, and drives reinsurance performance.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34731" y="4102554"/>
            <a:ext cx="5293874" cy="426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3"/>
              </a:lnSpc>
            </a:pPr>
            <a:r>
              <a:rPr lang="en-US" sz="2694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The problem no one has solved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27926" y="4510373"/>
            <a:ext cx="3567545" cy="71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9"/>
              </a:lnSpc>
            </a:pPr>
            <a:r>
              <a:rPr lang="en-US" sz="4566" b="1" i="1">
                <a:solidFill>
                  <a:srgbClr val="8AC83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UNTIL NOW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096375" y="2036272"/>
            <a:ext cx="47625" cy="6214456"/>
            <a:chOff x="0" y="0"/>
            <a:chExt cx="32722" cy="426975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2760" cy="4269793"/>
            </a:xfrm>
            <a:custGeom>
              <a:avLst/>
              <a:gdLst/>
              <a:ahLst/>
              <a:cxnLst/>
              <a:rect l="l" t="t" r="r" b="b"/>
              <a:pathLst>
                <a:path w="32760" h="4269793">
                  <a:moveTo>
                    <a:pt x="0" y="0"/>
                  </a:moveTo>
                  <a:lnTo>
                    <a:pt x="32760" y="0"/>
                  </a:lnTo>
                  <a:lnTo>
                    <a:pt x="32760" y="4269793"/>
                  </a:lnTo>
                  <a:lnTo>
                    <a:pt x="0" y="4269793"/>
                  </a:lnTo>
                  <a:close/>
                </a:path>
              </a:pathLst>
            </a:custGeom>
            <a:solidFill>
              <a:srgbClr val="8AC833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0981" y="2844308"/>
            <a:ext cx="16813787" cy="2582542"/>
            <a:chOff x="0" y="0"/>
            <a:chExt cx="22418383" cy="3443389"/>
          </a:xfrm>
        </p:grpSpPr>
        <p:grpSp>
          <p:nvGrpSpPr>
            <p:cNvPr id="3" name="Group 3"/>
            <p:cNvGrpSpPr/>
            <p:nvPr/>
          </p:nvGrpSpPr>
          <p:grpSpPr>
            <a:xfrm>
              <a:off x="4229" y="4229"/>
              <a:ext cx="4365752" cy="3439160"/>
              <a:chOff x="0" y="0"/>
              <a:chExt cx="4365752" cy="343916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365752" cy="3439160"/>
              </a:xfrm>
              <a:custGeom>
                <a:avLst/>
                <a:gdLst/>
                <a:ahLst/>
                <a:cxnLst/>
                <a:rect l="l" t="t" r="r" b="b"/>
                <a:pathLst>
                  <a:path w="4365752" h="3439160">
                    <a:moveTo>
                      <a:pt x="0" y="0"/>
                    </a:moveTo>
                    <a:lnTo>
                      <a:pt x="4365752" y="0"/>
                    </a:lnTo>
                    <a:lnTo>
                      <a:pt x="4365752" y="3439160"/>
                    </a:lnTo>
                    <a:lnTo>
                      <a:pt x="0" y="3439160"/>
                    </a:lnTo>
                    <a:close/>
                  </a:path>
                </a:pathLst>
              </a:custGeom>
              <a:solidFill>
                <a:srgbClr val="77868F">
                  <a:alpha val="40000"/>
                </a:srgbClr>
              </a:solidFill>
              <a:ln w="19050" cap="sq">
                <a:solidFill>
                  <a:srgbClr val="D8D8D8">
                    <a:alpha val="4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0"/>
              <a:ext cx="4374223" cy="180175"/>
              <a:chOff x="0" y="0"/>
              <a:chExt cx="4374223" cy="18017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374261" cy="180213"/>
              </a:xfrm>
              <a:custGeom>
                <a:avLst/>
                <a:gdLst/>
                <a:ahLst/>
                <a:cxnLst/>
                <a:rect l="l" t="t" r="r" b="b"/>
                <a:pathLst>
                  <a:path w="4374261" h="180213">
                    <a:moveTo>
                      <a:pt x="0" y="0"/>
                    </a:moveTo>
                    <a:lnTo>
                      <a:pt x="4374261" y="0"/>
                    </a:lnTo>
                    <a:lnTo>
                      <a:pt x="4374261" y="180213"/>
                    </a:lnTo>
                    <a:lnTo>
                      <a:pt x="0" y="180213"/>
                    </a:lnTo>
                    <a:close/>
                  </a:path>
                </a:pathLst>
              </a:custGeom>
              <a:solidFill>
                <a:srgbClr val="8AC833"/>
              </a:solidFill>
              <a:ln w="25400" cap="sq">
                <a:solidFill>
                  <a:srgbClr val="8AC83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260769" y="748449"/>
              <a:ext cx="3852672" cy="1341120"/>
              <a:chOff x="0" y="0"/>
              <a:chExt cx="3852672" cy="134112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852672" cy="1341120"/>
              </a:xfrm>
              <a:custGeom>
                <a:avLst/>
                <a:gdLst/>
                <a:ahLst/>
                <a:cxnLst/>
                <a:rect l="l" t="t" r="r" b="b"/>
                <a:pathLst>
                  <a:path w="3852672" h="1341120">
                    <a:moveTo>
                      <a:pt x="0" y="0"/>
                    </a:moveTo>
                    <a:lnTo>
                      <a:pt x="3852672" y="0"/>
                    </a:lnTo>
                    <a:lnTo>
                      <a:pt x="3852672" y="1341120"/>
                    </a:lnTo>
                    <a:lnTo>
                      <a:pt x="0" y="13411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975" b="-597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3852672" cy="136017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1">
                    <a:solidFill>
                      <a:srgbClr val="1A1E24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Longo Toyota</a:t>
                </a: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60769" y="2070519"/>
              <a:ext cx="3852672" cy="1116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1800" i="1">
                  <a:solidFill>
                    <a:srgbClr val="4A4A4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World's Largest Toyota Dealer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4515269" y="4229"/>
              <a:ext cx="4365752" cy="3439160"/>
              <a:chOff x="0" y="0"/>
              <a:chExt cx="4365752" cy="34391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365752" cy="3439160"/>
              </a:xfrm>
              <a:custGeom>
                <a:avLst/>
                <a:gdLst/>
                <a:ahLst/>
                <a:cxnLst/>
                <a:rect l="l" t="t" r="r" b="b"/>
                <a:pathLst>
                  <a:path w="4365752" h="3439160">
                    <a:moveTo>
                      <a:pt x="0" y="0"/>
                    </a:moveTo>
                    <a:lnTo>
                      <a:pt x="4365752" y="0"/>
                    </a:lnTo>
                    <a:lnTo>
                      <a:pt x="4365752" y="3439160"/>
                    </a:lnTo>
                    <a:lnTo>
                      <a:pt x="0" y="3439160"/>
                    </a:lnTo>
                    <a:close/>
                  </a:path>
                </a:pathLst>
              </a:custGeom>
              <a:solidFill>
                <a:srgbClr val="77868F">
                  <a:alpha val="40000"/>
                </a:srgbClr>
              </a:solidFill>
              <a:ln w="19050" cap="sq">
                <a:solidFill>
                  <a:srgbClr val="D8D8D8">
                    <a:alpha val="4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4511040" y="0"/>
              <a:ext cx="4374223" cy="180175"/>
              <a:chOff x="0" y="0"/>
              <a:chExt cx="4374223" cy="18017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374261" cy="180213"/>
              </a:xfrm>
              <a:custGeom>
                <a:avLst/>
                <a:gdLst/>
                <a:ahLst/>
                <a:cxnLst/>
                <a:rect l="l" t="t" r="r" b="b"/>
                <a:pathLst>
                  <a:path w="4374261" h="180213">
                    <a:moveTo>
                      <a:pt x="0" y="0"/>
                    </a:moveTo>
                    <a:lnTo>
                      <a:pt x="4374261" y="0"/>
                    </a:lnTo>
                    <a:lnTo>
                      <a:pt x="4374261" y="180213"/>
                    </a:lnTo>
                    <a:lnTo>
                      <a:pt x="0" y="180213"/>
                    </a:lnTo>
                    <a:close/>
                  </a:path>
                </a:pathLst>
              </a:custGeom>
              <a:solidFill>
                <a:srgbClr val="8AC833"/>
              </a:solidFill>
              <a:ln w="25400" cap="sq">
                <a:solidFill>
                  <a:srgbClr val="8AC83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4771809" y="748449"/>
              <a:ext cx="3852672" cy="1341120"/>
              <a:chOff x="0" y="0"/>
              <a:chExt cx="3852672" cy="134112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852672" cy="1341120"/>
              </a:xfrm>
              <a:custGeom>
                <a:avLst/>
                <a:gdLst/>
                <a:ahLst/>
                <a:cxnLst/>
                <a:rect l="l" t="t" r="r" b="b"/>
                <a:pathLst>
                  <a:path w="3852672" h="1341120">
                    <a:moveTo>
                      <a:pt x="0" y="0"/>
                    </a:moveTo>
                    <a:lnTo>
                      <a:pt x="3852672" y="0"/>
                    </a:lnTo>
                    <a:lnTo>
                      <a:pt x="3852672" y="1341120"/>
                    </a:lnTo>
                    <a:lnTo>
                      <a:pt x="0" y="13411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975" b="-597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9050"/>
                <a:ext cx="3852672" cy="136017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1">
                    <a:solidFill>
                      <a:srgbClr val="1A1E24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Bill Brown Ford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4771809" y="2070519"/>
              <a:ext cx="3852672" cy="1116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1800" i="1">
                  <a:solidFill>
                    <a:srgbClr val="4A4A4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World's Largest Ford Dealer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9026309" y="4229"/>
              <a:ext cx="4365752" cy="3439160"/>
              <a:chOff x="0" y="0"/>
              <a:chExt cx="4365752" cy="34391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365752" cy="3439160"/>
              </a:xfrm>
              <a:custGeom>
                <a:avLst/>
                <a:gdLst/>
                <a:ahLst/>
                <a:cxnLst/>
                <a:rect l="l" t="t" r="r" b="b"/>
                <a:pathLst>
                  <a:path w="4365752" h="3439160">
                    <a:moveTo>
                      <a:pt x="0" y="0"/>
                    </a:moveTo>
                    <a:lnTo>
                      <a:pt x="4365752" y="0"/>
                    </a:lnTo>
                    <a:lnTo>
                      <a:pt x="4365752" y="3439160"/>
                    </a:lnTo>
                    <a:lnTo>
                      <a:pt x="0" y="3439160"/>
                    </a:lnTo>
                    <a:close/>
                  </a:path>
                </a:pathLst>
              </a:custGeom>
              <a:solidFill>
                <a:srgbClr val="77868F">
                  <a:alpha val="40000"/>
                </a:srgbClr>
              </a:solidFill>
              <a:ln w="19050" cap="sq">
                <a:solidFill>
                  <a:srgbClr val="D8D8D8">
                    <a:alpha val="4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022080" y="0"/>
              <a:ext cx="4374223" cy="180175"/>
              <a:chOff x="0" y="0"/>
              <a:chExt cx="4374223" cy="1801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374261" cy="180213"/>
              </a:xfrm>
              <a:custGeom>
                <a:avLst/>
                <a:gdLst/>
                <a:ahLst/>
                <a:cxnLst/>
                <a:rect l="l" t="t" r="r" b="b"/>
                <a:pathLst>
                  <a:path w="4374261" h="180213">
                    <a:moveTo>
                      <a:pt x="0" y="0"/>
                    </a:moveTo>
                    <a:lnTo>
                      <a:pt x="4374261" y="0"/>
                    </a:lnTo>
                    <a:lnTo>
                      <a:pt x="4374261" y="180213"/>
                    </a:lnTo>
                    <a:lnTo>
                      <a:pt x="0" y="180213"/>
                    </a:lnTo>
                    <a:close/>
                  </a:path>
                </a:pathLst>
              </a:custGeom>
              <a:solidFill>
                <a:srgbClr val="8AC833"/>
              </a:solidFill>
              <a:ln w="25400" cap="sq">
                <a:solidFill>
                  <a:srgbClr val="8AC83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9282849" y="748449"/>
              <a:ext cx="3852672" cy="1341120"/>
              <a:chOff x="0" y="0"/>
              <a:chExt cx="3852672" cy="134112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3852672" cy="1341120"/>
              </a:xfrm>
              <a:custGeom>
                <a:avLst/>
                <a:gdLst/>
                <a:ahLst/>
                <a:cxnLst/>
                <a:rect l="l" t="t" r="r" b="b"/>
                <a:pathLst>
                  <a:path w="3852672" h="1341120">
                    <a:moveTo>
                      <a:pt x="0" y="0"/>
                    </a:moveTo>
                    <a:lnTo>
                      <a:pt x="3852672" y="0"/>
                    </a:lnTo>
                    <a:lnTo>
                      <a:pt x="3852672" y="1341120"/>
                    </a:lnTo>
                    <a:lnTo>
                      <a:pt x="0" y="13411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975" b="-597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19050"/>
                <a:ext cx="3852672" cy="136017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1">
                    <a:solidFill>
                      <a:srgbClr val="1A1E24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Lithia Automotive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9282849" y="2070519"/>
              <a:ext cx="3852672" cy="1116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1800" i="1">
                  <a:solidFill>
                    <a:srgbClr val="4A4A4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3rd Largest Dealer Group | NYSE: LAD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3537349" y="4229"/>
              <a:ext cx="4365752" cy="3439160"/>
              <a:chOff x="0" y="0"/>
              <a:chExt cx="4365752" cy="34391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4365752" cy="3439160"/>
              </a:xfrm>
              <a:custGeom>
                <a:avLst/>
                <a:gdLst/>
                <a:ahLst/>
                <a:cxnLst/>
                <a:rect l="l" t="t" r="r" b="b"/>
                <a:pathLst>
                  <a:path w="4365752" h="3439160">
                    <a:moveTo>
                      <a:pt x="0" y="0"/>
                    </a:moveTo>
                    <a:lnTo>
                      <a:pt x="4365752" y="0"/>
                    </a:lnTo>
                    <a:lnTo>
                      <a:pt x="4365752" y="3439160"/>
                    </a:lnTo>
                    <a:lnTo>
                      <a:pt x="0" y="3439160"/>
                    </a:lnTo>
                    <a:close/>
                  </a:path>
                </a:pathLst>
              </a:custGeom>
              <a:solidFill>
                <a:srgbClr val="77868F">
                  <a:alpha val="40000"/>
                </a:srgbClr>
              </a:solidFill>
              <a:ln w="19050" cap="sq">
                <a:solidFill>
                  <a:srgbClr val="D8D8D8">
                    <a:alpha val="4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3533120" y="0"/>
              <a:ext cx="4374223" cy="180175"/>
              <a:chOff x="0" y="0"/>
              <a:chExt cx="4374223" cy="1801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374261" cy="180213"/>
              </a:xfrm>
              <a:custGeom>
                <a:avLst/>
                <a:gdLst/>
                <a:ahLst/>
                <a:cxnLst/>
                <a:rect l="l" t="t" r="r" b="b"/>
                <a:pathLst>
                  <a:path w="4374261" h="180213">
                    <a:moveTo>
                      <a:pt x="0" y="0"/>
                    </a:moveTo>
                    <a:lnTo>
                      <a:pt x="4374261" y="0"/>
                    </a:lnTo>
                    <a:lnTo>
                      <a:pt x="4374261" y="180213"/>
                    </a:lnTo>
                    <a:lnTo>
                      <a:pt x="0" y="180213"/>
                    </a:lnTo>
                    <a:close/>
                  </a:path>
                </a:pathLst>
              </a:custGeom>
              <a:solidFill>
                <a:srgbClr val="8AC833"/>
              </a:solidFill>
              <a:ln w="25400" cap="sq">
                <a:solidFill>
                  <a:srgbClr val="8AC83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3793889" y="748449"/>
              <a:ext cx="3852672" cy="1341120"/>
              <a:chOff x="0" y="0"/>
              <a:chExt cx="3852672" cy="134112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3852672" cy="1341120"/>
              </a:xfrm>
              <a:custGeom>
                <a:avLst/>
                <a:gdLst/>
                <a:ahLst/>
                <a:cxnLst/>
                <a:rect l="l" t="t" r="r" b="b"/>
                <a:pathLst>
                  <a:path w="3852672" h="1341120">
                    <a:moveTo>
                      <a:pt x="0" y="0"/>
                    </a:moveTo>
                    <a:lnTo>
                      <a:pt x="3852672" y="0"/>
                    </a:lnTo>
                    <a:lnTo>
                      <a:pt x="3852672" y="1341120"/>
                    </a:lnTo>
                    <a:lnTo>
                      <a:pt x="0" y="13411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975" b="-597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19050"/>
                <a:ext cx="3852672" cy="136017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1">
                    <a:solidFill>
                      <a:srgbClr val="1A1E24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Morgan Automotive</a:t>
                </a:r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3793889" y="2070519"/>
              <a:ext cx="3852672" cy="1116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1800" i="1">
                  <a:solidFill>
                    <a:srgbClr val="4A4A4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Top 20 Dealer Group | Brandon Honda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18048389" y="4229"/>
              <a:ext cx="4365752" cy="3439160"/>
              <a:chOff x="0" y="0"/>
              <a:chExt cx="4365752" cy="34391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365752" cy="3439160"/>
              </a:xfrm>
              <a:custGeom>
                <a:avLst/>
                <a:gdLst/>
                <a:ahLst/>
                <a:cxnLst/>
                <a:rect l="l" t="t" r="r" b="b"/>
                <a:pathLst>
                  <a:path w="4365752" h="3439160">
                    <a:moveTo>
                      <a:pt x="0" y="0"/>
                    </a:moveTo>
                    <a:lnTo>
                      <a:pt x="4365752" y="0"/>
                    </a:lnTo>
                    <a:lnTo>
                      <a:pt x="4365752" y="3439160"/>
                    </a:lnTo>
                    <a:lnTo>
                      <a:pt x="0" y="3439160"/>
                    </a:lnTo>
                    <a:close/>
                  </a:path>
                </a:pathLst>
              </a:custGeom>
              <a:solidFill>
                <a:srgbClr val="77868F">
                  <a:alpha val="40000"/>
                </a:srgbClr>
              </a:solidFill>
              <a:ln w="19050" cap="sq">
                <a:solidFill>
                  <a:srgbClr val="D8D8D8">
                    <a:alpha val="4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8044160" y="0"/>
              <a:ext cx="4374223" cy="180175"/>
              <a:chOff x="0" y="0"/>
              <a:chExt cx="4374223" cy="1801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4374261" cy="180213"/>
              </a:xfrm>
              <a:custGeom>
                <a:avLst/>
                <a:gdLst/>
                <a:ahLst/>
                <a:cxnLst/>
                <a:rect l="l" t="t" r="r" b="b"/>
                <a:pathLst>
                  <a:path w="4374261" h="180213">
                    <a:moveTo>
                      <a:pt x="0" y="0"/>
                    </a:moveTo>
                    <a:lnTo>
                      <a:pt x="4374261" y="0"/>
                    </a:lnTo>
                    <a:lnTo>
                      <a:pt x="4374261" y="180213"/>
                    </a:lnTo>
                    <a:lnTo>
                      <a:pt x="0" y="180213"/>
                    </a:lnTo>
                    <a:close/>
                  </a:path>
                </a:pathLst>
              </a:custGeom>
              <a:solidFill>
                <a:srgbClr val="8AC833"/>
              </a:solidFill>
              <a:ln w="25400" cap="sq">
                <a:solidFill>
                  <a:srgbClr val="8AC83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8304929" y="748449"/>
              <a:ext cx="3852672" cy="1341120"/>
              <a:chOff x="0" y="0"/>
              <a:chExt cx="3852672" cy="134112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3852672" cy="1341120"/>
              </a:xfrm>
              <a:custGeom>
                <a:avLst/>
                <a:gdLst/>
                <a:ahLst/>
                <a:cxnLst/>
                <a:rect l="l" t="t" r="r" b="b"/>
                <a:pathLst>
                  <a:path w="3852672" h="1341120">
                    <a:moveTo>
                      <a:pt x="0" y="0"/>
                    </a:moveTo>
                    <a:lnTo>
                      <a:pt x="3852672" y="0"/>
                    </a:lnTo>
                    <a:lnTo>
                      <a:pt x="3852672" y="1341120"/>
                    </a:lnTo>
                    <a:lnTo>
                      <a:pt x="0" y="13411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975" b="-597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19050"/>
                <a:ext cx="3852672" cy="136017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1">
                    <a:solidFill>
                      <a:srgbClr val="1A1E24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Penske Automotive</a:t>
                </a: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18304929" y="2070519"/>
              <a:ext cx="3852672" cy="1116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1800" i="1">
                  <a:solidFill>
                    <a:srgbClr val="4A4A4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Fortune 500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17066" y="6065025"/>
            <a:ext cx="17453867" cy="2860043"/>
            <a:chOff x="0" y="0"/>
            <a:chExt cx="23271823" cy="3813391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5569039" cy="3813391"/>
              <a:chOff x="0" y="0"/>
              <a:chExt cx="5569039" cy="381339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5569077" cy="3813429"/>
              </a:xfrm>
              <a:custGeom>
                <a:avLst/>
                <a:gdLst/>
                <a:ahLst/>
                <a:cxnLst/>
                <a:rect l="l" t="t" r="r" b="b"/>
                <a:pathLst>
                  <a:path w="5569077" h="3813429">
                    <a:moveTo>
                      <a:pt x="0" y="0"/>
                    </a:moveTo>
                    <a:lnTo>
                      <a:pt x="5569077" y="0"/>
                    </a:lnTo>
                    <a:lnTo>
                      <a:pt x="5569077" y="3813429"/>
                    </a:lnTo>
                    <a:lnTo>
                      <a:pt x="0" y="3813429"/>
                    </a:lnTo>
                    <a:close/>
                  </a:path>
                </a:pathLst>
              </a:custGeom>
              <a:solidFill>
                <a:srgbClr val="1A1E24"/>
              </a:solidFill>
              <a:ln w="25400" cap="sq">
                <a:solidFill>
                  <a:srgbClr val="1A1E2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3633216"/>
              <a:ext cx="5569039" cy="180175"/>
              <a:chOff x="0" y="0"/>
              <a:chExt cx="5569039" cy="18017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5569077" cy="180213"/>
              </a:xfrm>
              <a:custGeom>
                <a:avLst/>
                <a:gdLst/>
                <a:ahLst/>
                <a:cxnLst/>
                <a:rect l="l" t="t" r="r" b="b"/>
                <a:pathLst>
                  <a:path w="5569077" h="180213">
                    <a:moveTo>
                      <a:pt x="0" y="0"/>
                    </a:moveTo>
                    <a:lnTo>
                      <a:pt x="5569077" y="0"/>
                    </a:lnTo>
                    <a:lnTo>
                      <a:pt x="5569077" y="180213"/>
                    </a:lnTo>
                    <a:lnTo>
                      <a:pt x="0" y="180213"/>
                    </a:lnTo>
                    <a:close/>
                  </a:path>
                </a:pathLst>
              </a:custGeom>
              <a:solidFill>
                <a:srgbClr val="8AC833"/>
              </a:solidFill>
              <a:ln w="25400" cap="sq">
                <a:solidFill>
                  <a:srgbClr val="8AC83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260769" y="455841"/>
              <a:ext cx="5047488" cy="1828800"/>
              <a:chOff x="0" y="0"/>
              <a:chExt cx="5047488" cy="1828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5047488" cy="1828800"/>
              </a:xfrm>
              <a:custGeom>
                <a:avLst/>
                <a:gdLst/>
                <a:ahLst/>
                <a:cxnLst/>
                <a:rect l="l" t="t" r="r" b="b"/>
                <a:pathLst>
                  <a:path w="5047488" h="1828800">
                    <a:moveTo>
                      <a:pt x="0" y="0"/>
                    </a:moveTo>
                    <a:lnTo>
                      <a:pt x="5047488" y="0"/>
                    </a:lnTo>
                    <a:lnTo>
                      <a:pt x="5047488" y="1828800"/>
                    </a:lnTo>
                    <a:lnTo>
                      <a:pt x="0" y="18288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778" b="-377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38100"/>
                <a:ext cx="5047488" cy="18669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9600"/>
                  </a:lnSpc>
                </a:pPr>
                <a:r>
                  <a:rPr lang="en-US" sz="8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250+</a:t>
                </a:r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260769" y="2314359"/>
              <a:ext cx="5047488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</a:pPr>
              <a:r>
                <a:rPr lang="en-US" sz="2200" b="1" spc="600">
                  <a:solidFill>
                    <a:srgbClr val="F59E0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Dealerships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5900928" y="0"/>
              <a:ext cx="5569039" cy="3813391"/>
              <a:chOff x="0" y="0"/>
              <a:chExt cx="5569039" cy="381339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5569077" cy="3813429"/>
              </a:xfrm>
              <a:custGeom>
                <a:avLst/>
                <a:gdLst/>
                <a:ahLst/>
                <a:cxnLst/>
                <a:rect l="l" t="t" r="r" b="b"/>
                <a:pathLst>
                  <a:path w="5569077" h="3813429">
                    <a:moveTo>
                      <a:pt x="0" y="0"/>
                    </a:moveTo>
                    <a:lnTo>
                      <a:pt x="5569077" y="0"/>
                    </a:lnTo>
                    <a:lnTo>
                      <a:pt x="5569077" y="3813429"/>
                    </a:lnTo>
                    <a:lnTo>
                      <a:pt x="0" y="3813429"/>
                    </a:lnTo>
                    <a:close/>
                  </a:path>
                </a:pathLst>
              </a:custGeom>
              <a:solidFill>
                <a:srgbClr val="1A1E24"/>
              </a:solidFill>
              <a:ln w="25400" cap="sq">
                <a:solidFill>
                  <a:srgbClr val="1A1E2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5900928" y="3633216"/>
              <a:ext cx="5569039" cy="180175"/>
              <a:chOff x="0" y="0"/>
              <a:chExt cx="5569039" cy="18017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5569077" cy="180213"/>
              </a:xfrm>
              <a:custGeom>
                <a:avLst/>
                <a:gdLst/>
                <a:ahLst/>
                <a:cxnLst/>
                <a:rect l="l" t="t" r="r" b="b"/>
                <a:pathLst>
                  <a:path w="5569077" h="180213">
                    <a:moveTo>
                      <a:pt x="0" y="0"/>
                    </a:moveTo>
                    <a:lnTo>
                      <a:pt x="5569077" y="0"/>
                    </a:lnTo>
                    <a:lnTo>
                      <a:pt x="5569077" y="180213"/>
                    </a:lnTo>
                    <a:lnTo>
                      <a:pt x="0" y="180213"/>
                    </a:lnTo>
                    <a:close/>
                  </a:path>
                </a:pathLst>
              </a:custGeom>
              <a:solidFill>
                <a:srgbClr val="8AC833"/>
              </a:solidFill>
              <a:ln w="25400" cap="sq">
                <a:solidFill>
                  <a:srgbClr val="8AC83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6161697" y="455841"/>
              <a:ext cx="5047488" cy="1828800"/>
              <a:chOff x="0" y="0"/>
              <a:chExt cx="5047488" cy="1828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5047488" cy="1828800"/>
              </a:xfrm>
              <a:custGeom>
                <a:avLst/>
                <a:gdLst/>
                <a:ahLst/>
                <a:cxnLst/>
                <a:rect l="l" t="t" r="r" b="b"/>
                <a:pathLst>
                  <a:path w="5047488" h="1828800">
                    <a:moveTo>
                      <a:pt x="0" y="0"/>
                    </a:moveTo>
                    <a:lnTo>
                      <a:pt x="5047488" y="0"/>
                    </a:lnTo>
                    <a:lnTo>
                      <a:pt x="5047488" y="1828800"/>
                    </a:lnTo>
                    <a:lnTo>
                      <a:pt x="0" y="18288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778" b="-377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38100"/>
                <a:ext cx="5047488" cy="18669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9600"/>
                  </a:lnSpc>
                </a:pPr>
                <a:r>
                  <a:rPr lang="en-US" sz="8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10+</a:t>
                </a:r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6161697" y="2314359"/>
              <a:ext cx="5047488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</a:pPr>
              <a:r>
                <a:rPr lang="en-US" sz="2200" b="1" spc="600">
                  <a:solidFill>
                    <a:srgbClr val="F59E0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Years in Market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11801856" y="0"/>
              <a:ext cx="5569039" cy="3813391"/>
              <a:chOff x="0" y="0"/>
              <a:chExt cx="5569039" cy="3813391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5569077" cy="3813429"/>
              </a:xfrm>
              <a:custGeom>
                <a:avLst/>
                <a:gdLst/>
                <a:ahLst/>
                <a:cxnLst/>
                <a:rect l="l" t="t" r="r" b="b"/>
                <a:pathLst>
                  <a:path w="5569077" h="3813429">
                    <a:moveTo>
                      <a:pt x="0" y="0"/>
                    </a:moveTo>
                    <a:lnTo>
                      <a:pt x="5569077" y="0"/>
                    </a:lnTo>
                    <a:lnTo>
                      <a:pt x="5569077" y="3813429"/>
                    </a:lnTo>
                    <a:lnTo>
                      <a:pt x="0" y="3813429"/>
                    </a:lnTo>
                    <a:close/>
                  </a:path>
                </a:pathLst>
              </a:custGeom>
              <a:solidFill>
                <a:srgbClr val="1A1E24"/>
              </a:solidFill>
              <a:ln w="25400" cap="sq">
                <a:solidFill>
                  <a:srgbClr val="1A1E2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11801856" y="3633216"/>
              <a:ext cx="5569039" cy="180175"/>
              <a:chOff x="0" y="0"/>
              <a:chExt cx="5569039" cy="18017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5569077" cy="180213"/>
              </a:xfrm>
              <a:custGeom>
                <a:avLst/>
                <a:gdLst/>
                <a:ahLst/>
                <a:cxnLst/>
                <a:rect l="l" t="t" r="r" b="b"/>
                <a:pathLst>
                  <a:path w="5569077" h="180213">
                    <a:moveTo>
                      <a:pt x="0" y="0"/>
                    </a:moveTo>
                    <a:lnTo>
                      <a:pt x="5569077" y="0"/>
                    </a:lnTo>
                    <a:lnTo>
                      <a:pt x="5569077" y="180213"/>
                    </a:lnTo>
                    <a:lnTo>
                      <a:pt x="0" y="180213"/>
                    </a:lnTo>
                    <a:close/>
                  </a:path>
                </a:pathLst>
              </a:custGeom>
              <a:solidFill>
                <a:srgbClr val="8AC833"/>
              </a:solidFill>
              <a:ln w="25400" cap="sq">
                <a:solidFill>
                  <a:srgbClr val="8AC83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2062625" y="455841"/>
              <a:ext cx="5047488" cy="1828800"/>
              <a:chOff x="0" y="0"/>
              <a:chExt cx="5047488" cy="1828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5047488" cy="1828800"/>
              </a:xfrm>
              <a:custGeom>
                <a:avLst/>
                <a:gdLst/>
                <a:ahLst/>
                <a:cxnLst/>
                <a:rect l="l" t="t" r="r" b="b"/>
                <a:pathLst>
                  <a:path w="5047488" h="1828800">
                    <a:moveTo>
                      <a:pt x="0" y="0"/>
                    </a:moveTo>
                    <a:lnTo>
                      <a:pt x="5047488" y="0"/>
                    </a:lnTo>
                    <a:lnTo>
                      <a:pt x="5047488" y="1828800"/>
                    </a:lnTo>
                    <a:lnTo>
                      <a:pt x="0" y="18288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778" b="-377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-38100"/>
                <a:ext cx="5047488" cy="18669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9600"/>
                  </a:lnSpc>
                </a:pPr>
                <a:r>
                  <a:rPr lang="en-US" sz="8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90%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12062625" y="2314359"/>
              <a:ext cx="5047488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</a:pPr>
              <a:r>
                <a:rPr lang="en-US" sz="2200" b="1" spc="600">
                  <a:solidFill>
                    <a:srgbClr val="F59E0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Sales Team Adoption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17702784" y="0"/>
              <a:ext cx="5569039" cy="3813391"/>
              <a:chOff x="0" y="0"/>
              <a:chExt cx="5569039" cy="3813391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5569077" cy="3813429"/>
              </a:xfrm>
              <a:custGeom>
                <a:avLst/>
                <a:gdLst/>
                <a:ahLst/>
                <a:cxnLst/>
                <a:rect l="l" t="t" r="r" b="b"/>
                <a:pathLst>
                  <a:path w="5569077" h="3813429">
                    <a:moveTo>
                      <a:pt x="0" y="0"/>
                    </a:moveTo>
                    <a:lnTo>
                      <a:pt x="5569077" y="0"/>
                    </a:lnTo>
                    <a:lnTo>
                      <a:pt x="5569077" y="3813429"/>
                    </a:lnTo>
                    <a:lnTo>
                      <a:pt x="0" y="3813429"/>
                    </a:lnTo>
                    <a:close/>
                  </a:path>
                </a:pathLst>
              </a:custGeom>
              <a:solidFill>
                <a:srgbClr val="1A1E24"/>
              </a:solidFill>
              <a:ln w="25400" cap="sq">
                <a:solidFill>
                  <a:srgbClr val="1A1E2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17702784" y="3633216"/>
              <a:ext cx="5569039" cy="180175"/>
              <a:chOff x="0" y="0"/>
              <a:chExt cx="5569039" cy="18017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5569077" cy="180213"/>
              </a:xfrm>
              <a:custGeom>
                <a:avLst/>
                <a:gdLst/>
                <a:ahLst/>
                <a:cxnLst/>
                <a:rect l="l" t="t" r="r" b="b"/>
                <a:pathLst>
                  <a:path w="5569077" h="180213">
                    <a:moveTo>
                      <a:pt x="0" y="0"/>
                    </a:moveTo>
                    <a:lnTo>
                      <a:pt x="5569077" y="0"/>
                    </a:lnTo>
                    <a:lnTo>
                      <a:pt x="5569077" y="180213"/>
                    </a:lnTo>
                    <a:lnTo>
                      <a:pt x="0" y="180213"/>
                    </a:lnTo>
                    <a:close/>
                  </a:path>
                </a:pathLst>
              </a:custGeom>
              <a:solidFill>
                <a:srgbClr val="8AC833"/>
              </a:solidFill>
              <a:ln w="25400" cap="sq">
                <a:solidFill>
                  <a:srgbClr val="8AC83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17963553" y="455841"/>
              <a:ext cx="5047488" cy="1828800"/>
              <a:chOff x="0" y="0"/>
              <a:chExt cx="5047488" cy="1828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5047488" cy="1828800"/>
              </a:xfrm>
              <a:custGeom>
                <a:avLst/>
                <a:gdLst/>
                <a:ahLst/>
                <a:cxnLst/>
                <a:rect l="l" t="t" r="r" b="b"/>
                <a:pathLst>
                  <a:path w="5047488" h="1828800">
                    <a:moveTo>
                      <a:pt x="0" y="0"/>
                    </a:moveTo>
                    <a:lnTo>
                      <a:pt x="5047488" y="0"/>
                    </a:lnTo>
                    <a:lnTo>
                      <a:pt x="5047488" y="1828800"/>
                    </a:lnTo>
                    <a:lnTo>
                      <a:pt x="0" y="18288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778" b="-377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0" y="-38100"/>
                <a:ext cx="5047488" cy="18669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9600"/>
                  </a:lnSpc>
                </a:pPr>
                <a:r>
                  <a:rPr lang="en-US" sz="8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$0</a:t>
                </a:r>
              </a:p>
            </p:txBody>
          </p:sp>
        </p:grpSp>
        <p:sp>
          <p:nvSpPr>
            <p:cNvPr id="75" name="TextBox 75"/>
            <p:cNvSpPr txBox="1"/>
            <p:nvPr/>
          </p:nvSpPr>
          <p:spPr>
            <a:xfrm>
              <a:off x="17963553" y="2314359"/>
              <a:ext cx="5047488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</a:pPr>
              <a:r>
                <a:rPr lang="en-US" sz="2200" b="1" spc="600">
                  <a:solidFill>
                    <a:srgbClr val="F59E0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Lost Keys After Install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31520" y="9260586"/>
            <a:ext cx="16824960" cy="512064"/>
            <a:chOff x="0" y="0"/>
            <a:chExt cx="22433280" cy="68275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2433280" cy="682752"/>
            </a:xfrm>
            <a:custGeom>
              <a:avLst/>
              <a:gdLst/>
              <a:ahLst/>
              <a:cxnLst/>
              <a:rect l="l" t="t" r="r" b="b"/>
              <a:pathLst>
                <a:path w="22433280" h="682752">
                  <a:moveTo>
                    <a:pt x="0" y="0"/>
                  </a:moveTo>
                  <a:lnTo>
                    <a:pt x="22433280" y="0"/>
                  </a:lnTo>
                  <a:lnTo>
                    <a:pt x="22433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22433280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i="1">
                  <a:solidFill>
                    <a:srgbClr val="00000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Born at Longo Toyota</a:t>
              </a:r>
              <a:r>
                <a:rPr lang="en-US" sz="2300" i="1">
                  <a:solidFill>
                    <a:srgbClr val="4A4A4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   </a:t>
              </a:r>
              <a:r>
                <a:rPr lang="en-US" sz="2300" b="1" i="1">
                  <a:solidFill>
                    <a:srgbClr val="8AC833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→   </a:t>
              </a:r>
              <a:r>
                <a:rPr lang="en-US" sz="2300" i="1">
                  <a:solidFill>
                    <a:srgbClr val="00000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Scaled to 250+ dealerships </a:t>
              </a:r>
              <a:r>
                <a:rPr lang="en-US" sz="2300" i="1">
                  <a:solidFill>
                    <a:srgbClr val="4A4A4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  </a:t>
              </a:r>
              <a:r>
                <a:rPr lang="en-US" sz="2300" b="1" i="1">
                  <a:solidFill>
                    <a:srgbClr val="8AC833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→   </a:t>
              </a:r>
              <a:r>
                <a:rPr lang="en-US" sz="2300" i="1">
                  <a:solidFill>
                    <a:srgbClr val="00000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Now in top public auto groups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798595" y="1466667"/>
            <a:ext cx="14690811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17"/>
              </a:lnSpc>
            </a:pPr>
            <a:r>
              <a:rPr lang="en-US" sz="5931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Born at the World's Largest Dealerships.</a:t>
            </a:r>
          </a:p>
        </p:txBody>
      </p:sp>
      <p:sp>
        <p:nvSpPr>
          <p:cNvPr id="80" name="Freeform 80"/>
          <p:cNvSpPr/>
          <p:nvPr/>
        </p:nvSpPr>
        <p:spPr>
          <a:xfrm>
            <a:off x="14373868" y="489585"/>
            <a:ext cx="3322267" cy="819885"/>
          </a:xfrm>
          <a:custGeom>
            <a:avLst/>
            <a:gdLst/>
            <a:ahLst/>
            <a:cxnLst/>
            <a:rect l="l" t="t" r="r" b="b"/>
            <a:pathLst>
              <a:path w="3322267" h="819885">
                <a:moveTo>
                  <a:pt x="0" y="0"/>
                </a:moveTo>
                <a:lnTo>
                  <a:pt x="3322268" y="0"/>
                </a:lnTo>
                <a:lnTo>
                  <a:pt x="3322268" y="819885"/>
                </a:lnTo>
                <a:lnTo>
                  <a:pt x="0" y="819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8698" r="869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77" b="-77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3595142"/>
            <a:ext cx="5663158" cy="5663158"/>
            <a:chOff x="0" y="0"/>
            <a:chExt cx="7550878" cy="75508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550878" cy="7550878"/>
            </a:xfrm>
            <a:custGeom>
              <a:avLst/>
              <a:gdLst/>
              <a:ahLst/>
              <a:cxnLst/>
              <a:rect l="l" t="t" r="r" b="b"/>
              <a:pathLst>
                <a:path w="7550878" h="7550878">
                  <a:moveTo>
                    <a:pt x="0" y="0"/>
                  </a:moveTo>
                  <a:lnTo>
                    <a:pt x="7550878" y="0"/>
                  </a:lnTo>
                  <a:lnTo>
                    <a:pt x="7550878" y="7550878"/>
                  </a:lnTo>
                  <a:lnTo>
                    <a:pt x="0" y="7550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4502616" y="2504908"/>
              <a:ext cx="353065" cy="316736"/>
              <a:chOff x="0" y="0"/>
              <a:chExt cx="1011493" cy="90741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011493" cy="907416"/>
              </a:xfrm>
              <a:custGeom>
                <a:avLst/>
                <a:gdLst/>
                <a:ahLst/>
                <a:cxnLst/>
                <a:rect l="l" t="t" r="r" b="b"/>
                <a:pathLst>
                  <a:path w="1011493" h="907416">
                    <a:moveTo>
                      <a:pt x="505746" y="0"/>
                    </a:moveTo>
                    <a:cubicBezTo>
                      <a:pt x="226430" y="0"/>
                      <a:pt x="0" y="203132"/>
                      <a:pt x="0" y="453708"/>
                    </a:cubicBezTo>
                    <a:cubicBezTo>
                      <a:pt x="0" y="704284"/>
                      <a:pt x="226430" y="907416"/>
                      <a:pt x="505746" y="907416"/>
                    </a:cubicBezTo>
                    <a:cubicBezTo>
                      <a:pt x="785062" y="907416"/>
                      <a:pt x="1011493" y="704284"/>
                      <a:pt x="1011493" y="453708"/>
                    </a:cubicBezTo>
                    <a:cubicBezTo>
                      <a:pt x="1011493" y="203132"/>
                      <a:pt x="785062" y="0"/>
                      <a:pt x="505746" y="0"/>
                    </a:cubicBez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94827" y="66020"/>
                <a:ext cx="821838" cy="756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</p:grpSp>
      <p:sp>
        <p:nvSpPr>
          <p:cNvPr id="8" name="Freeform 8"/>
          <p:cNvSpPr/>
          <p:nvPr/>
        </p:nvSpPr>
        <p:spPr>
          <a:xfrm>
            <a:off x="13150845" y="1036519"/>
            <a:ext cx="3317005" cy="6867990"/>
          </a:xfrm>
          <a:custGeom>
            <a:avLst/>
            <a:gdLst/>
            <a:ahLst/>
            <a:cxnLst/>
            <a:rect l="l" t="t" r="r" b="b"/>
            <a:pathLst>
              <a:path w="3317005" h="6867990">
                <a:moveTo>
                  <a:pt x="0" y="0"/>
                </a:moveTo>
                <a:lnTo>
                  <a:pt x="3317005" y="0"/>
                </a:lnTo>
                <a:lnTo>
                  <a:pt x="3317005" y="6867990"/>
                </a:lnTo>
                <a:lnTo>
                  <a:pt x="0" y="6867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8485517" y="2459817"/>
            <a:ext cx="4236105" cy="2437516"/>
            <a:chOff x="0" y="0"/>
            <a:chExt cx="1115682" cy="6419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15682" cy="641980"/>
            </a:xfrm>
            <a:custGeom>
              <a:avLst/>
              <a:gdLst/>
              <a:ahLst/>
              <a:cxnLst/>
              <a:rect l="l" t="t" r="r" b="b"/>
              <a:pathLst>
                <a:path w="1115682" h="641980">
                  <a:moveTo>
                    <a:pt x="93208" y="0"/>
                  </a:moveTo>
                  <a:lnTo>
                    <a:pt x="1022474" y="0"/>
                  </a:lnTo>
                  <a:cubicBezTo>
                    <a:pt x="1073952" y="0"/>
                    <a:pt x="1115682" y="41731"/>
                    <a:pt x="1115682" y="93208"/>
                  </a:cubicBezTo>
                  <a:lnTo>
                    <a:pt x="1115682" y="548772"/>
                  </a:lnTo>
                  <a:cubicBezTo>
                    <a:pt x="1115682" y="600249"/>
                    <a:pt x="1073952" y="641980"/>
                    <a:pt x="1022474" y="641980"/>
                  </a:cubicBezTo>
                  <a:lnTo>
                    <a:pt x="93208" y="641980"/>
                  </a:lnTo>
                  <a:cubicBezTo>
                    <a:pt x="41731" y="641980"/>
                    <a:pt x="0" y="600249"/>
                    <a:pt x="0" y="548772"/>
                  </a:cubicBezTo>
                  <a:lnTo>
                    <a:pt x="0" y="93208"/>
                  </a:lnTo>
                  <a:cubicBezTo>
                    <a:pt x="0" y="41731"/>
                    <a:pt x="41731" y="0"/>
                    <a:pt x="93208" y="0"/>
                  </a:cubicBezTo>
                  <a:close/>
                </a:path>
              </a:pathLst>
            </a:custGeom>
            <a:solidFill>
              <a:srgbClr val="8A8A8A">
                <a:alpha val="77647"/>
              </a:srgbClr>
            </a:solidFill>
            <a:ln w="38100" cap="rnd">
              <a:solidFill>
                <a:srgbClr val="000000">
                  <a:alpha val="77647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115682" cy="6610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726804" y="4232028"/>
            <a:ext cx="7027189" cy="5894055"/>
          </a:xfrm>
          <a:custGeom>
            <a:avLst/>
            <a:gdLst/>
            <a:ahLst/>
            <a:cxnLst/>
            <a:rect l="l" t="t" r="r" b="b"/>
            <a:pathLst>
              <a:path w="7027189" h="5894055">
                <a:moveTo>
                  <a:pt x="0" y="0"/>
                </a:moveTo>
                <a:lnTo>
                  <a:pt x="7027189" y="0"/>
                </a:lnTo>
                <a:lnTo>
                  <a:pt x="7027189" y="5894055"/>
                </a:lnTo>
                <a:lnTo>
                  <a:pt x="0" y="58940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3877421" y="2359367"/>
            <a:ext cx="1133316" cy="1133316"/>
          </a:xfrm>
          <a:custGeom>
            <a:avLst/>
            <a:gdLst/>
            <a:ahLst/>
            <a:cxnLst/>
            <a:rect l="l" t="t" r="r" b="b"/>
            <a:pathLst>
              <a:path w="1133316" h="1133316">
                <a:moveTo>
                  <a:pt x="0" y="0"/>
                </a:moveTo>
                <a:lnTo>
                  <a:pt x="1133315" y="0"/>
                </a:lnTo>
                <a:lnTo>
                  <a:pt x="1133315" y="1133316"/>
                </a:lnTo>
                <a:lnTo>
                  <a:pt x="0" y="11333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1053268" y="1031166"/>
            <a:ext cx="1114325" cy="1114325"/>
          </a:xfrm>
          <a:custGeom>
            <a:avLst/>
            <a:gdLst/>
            <a:ahLst/>
            <a:cxnLst/>
            <a:rect l="l" t="t" r="r" b="b"/>
            <a:pathLst>
              <a:path w="1114325" h="1114325">
                <a:moveTo>
                  <a:pt x="0" y="0"/>
                </a:moveTo>
                <a:lnTo>
                  <a:pt x="1114325" y="0"/>
                </a:lnTo>
                <a:lnTo>
                  <a:pt x="1114325" y="1114326"/>
                </a:lnTo>
                <a:lnTo>
                  <a:pt x="0" y="11143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8664985" y="2747902"/>
            <a:ext cx="648518" cy="664295"/>
          </a:xfrm>
          <a:custGeom>
            <a:avLst/>
            <a:gdLst/>
            <a:ahLst/>
            <a:cxnLst/>
            <a:rect l="l" t="t" r="r" b="b"/>
            <a:pathLst>
              <a:path w="648518" h="664295">
                <a:moveTo>
                  <a:pt x="0" y="0"/>
                </a:moveTo>
                <a:lnTo>
                  <a:pt x="648518" y="0"/>
                </a:lnTo>
                <a:lnTo>
                  <a:pt x="648518" y="664295"/>
                </a:lnTo>
                <a:lnTo>
                  <a:pt x="0" y="6642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8613895" y="3845865"/>
            <a:ext cx="648518" cy="664295"/>
          </a:xfrm>
          <a:custGeom>
            <a:avLst/>
            <a:gdLst/>
            <a:ahLst/>
            <a:cxnLst/>
            <a:rect l="l" t="t" r="r" b="b"/>
            <a:pathLst>
              <a:path w="648518" h="664295">
                <a:moveTo>
                  <a:pt x="0" y="0"/>
                </a:moveTo>
                <a:lnTo>
                  <a:pt x="648519" y="0"/>
                </a:lnTo>
                <a:lnTo>
                  <a:pt x="648519" y="664296"/>
                </a:lnTo>
                <a:lnTo>
                  <a:pt x="0" y="6642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8664248" y="3156250"/>
            <a:ext cx="4125113" cy="4114800"/>
          </a:xfrm>
          <a:custGeom>
            <a:avLst/>
            <a:gdLst/>
            <a:ahLst/>
            <a:cxnLst/>
            <a:rect l="l" t="t" r="r" b="b"/>
            <a:pathLst>
              <a:path w="4125113" h="4114800">
                <a:moveTo>
                  <a:pt x="0" y="0"/>
                </a:moveTo>
                <a:lnTo>
                  <a:pt x="4125113" y="0"/>
                </a:lnTo>
                <a:lnTo>
                  <a:pt x="41251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028700" y="2661692"/>
            <a:ext cx="3258622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17"/>
              </a:lnSpc>
            </a:pPr>
            <a:r>
              <a:rPr lang="en-US" sz="5931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Theirs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85517" y="990600"/>
            <a:ext cx="3258622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17"/>
              </a:lnSpc>
            </a:pPr>
            <a:r>
              <a:rPr lang="en-US" sz="5931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Ours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57279" y="2620864"/>
            <a:ext cx="2764689" cy="9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3080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Pairs with Bluetooth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57279" y="3703790"/>
            <a:ext cx="3135965" cy="9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3080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Simple to install, no tech needed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9610725"/>
            <a:ext cx="16459200" cy="457200"/>
            <a:chOff x="0" y="0"/>
            <a:chExt cx="21945600" cy="609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45600" cy="609600"/>
            </a:xfrm>
            <a:custGeom>
              <a:avLst/>
              <a:gdLst/>
              <a:ahLst/>
              <a:cxnLst/>
              <a:rect l="l" t="t" r="r" b="b"/>
              <a:pathLst>
                <a:path w="21945600" h="609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t="-651461" b="-65146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21945600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 spc="799">
                  <a:solidFill>
                    <a:srgbClr val="8AC8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NEXT GENERATION SOLUTION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7482866" y="8707313"/>
            <a:ext cx="3322267" cy="819885"/>
          </a:xfrm>
          <a:custGeom>
            <a:avLst/>
            <a:gdLst/>
            <a:ahLst/>
            <a:cxnLst/>
            <a:rect l="l" t="t" r="r" b="b"/>
            <a:pathLst>
              <a:path w="3322267" h="819885">
                <a:moveTo>
                  <a:pt x="0" y="0"/>
                </a:moveTo>
                <a:lnTo>
                  <a:pt x="3322268" y="0"/>
                </a:lnTo>
                <a:lnTo>
                  <a:pt x="3322268" y="819886"/>
                </a:lnTo>
                <a:lnTo>
                  <a:pt x="0" y="81988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8698" r="869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489585"/>
            <a:ext cx="11341835" cy="457200"/>
            <a:chOff x="0" y="0"/>
            <a:chExt cx="15122447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22446" cy="609600"/>
            </a:xfrm>
            <a:custGeom>
              <a:avLst/>
              <a:gdLst/>
              <a:ahLst/>
              <a:cxnLst/>
              <a:rect l="l" t="t" r="r" b="b"/>
              <a:pathLst>
                <a:path w="15122446" h="609600">
                  <a:moveTo>
                    <a:pt x="0" y="0"/>
                  </a:moveTo>
                  <a:lnTo>
                    <a:pt x="15122446" y="0"/>
                  </a:lnTo>
                  <a:lnTo>
                    <a:pt x="15122446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1461" r="-45119" b="-65146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5122447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799">
                  <a:solidFill>
                    <a:srgbClr val="8AC8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NEXT GENERATION SOLUTION 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31520" y="1108710"/>
            <a:ext cx="11593876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1">
                <a:solidFill>
                  <a:srgbClr val="1A1E24"/>
                </a:solidFill>
                <a:latin typeface="Arial Bold"/>
                <a:ea typeface="Arial Bold"/>
                <a:cs typeface="Arial Bold"/>
                <a:sym typeface="Arial Bold"/>
              </a:rPr>
              <a:t>Key &amp; Vehicle </a:t>
            </a:r>
            <a:r>
              <a:rPr lang="en-US" sz="6400" b="1" i="1">
                <a:solidFill>
                  <a:srgbClr val="8AC83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Tracking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31520" y="2326005"/>
            <a:ext cx="16824960" cy="548640"/>
            <a:chOff x="0" y="0"/>
            <a:chExt cx="22433280" cy="7315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433280" cy="731520"/>
            </a:xfrm>
            <a:custGeom>
              <a:avLst/>
              <a:gdLst/>
              <a:ahLst/>
              <a:cxnLst/>
              <a:rect l="l" t="t" r="r" b="b"/>
              <a:pathLst>
                <a:path w="22433280" h="73152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7541" b="-54754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24332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4A4A4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Real-time location for every key and vehicle. Built for dealerships that lose them.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8823" y="3227708"/>
            <a:ext cx="939803" cy="939803"/>
            <a:chOff x="0" y="0"/>
            <a:chExt cx="1253071" cy="12530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0976" y="3459861"/>
            <a:ext cx="475488" cy="475488"/>
            <a:chOff x="0" y="0"/>
            <a:chExt cx="633984" cy="633984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633984" cy="633984"/>
            </a:xfrm>
            <a:custGeom>
              <a:avLst/>
              <a:gdLst/>
              <a:ahLst/>
              <a:cxnLst/>
              <a:rect l="l" t="t" r="r" b="b"/>
              <a:pathLst>
                <a:path w="633984" h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20240" y="3331845"/>
            <a:ext cx="9052560" cy="822960"/>
            <a:chOff x="0" y="0"/>
            <a:chExt cx="12070080" cy="10972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070080" cy="1097280"/>
            </a:xfrm>
            <a:custGeom>
              <a:avLst/>
              <a:gdLst/>
              <a:ahLst/>
              <a:cxnLst/>
              <a:rect l="l" t="t" r="r" b="b"/>
              <a:pathLst>
                <a:path w="12070080" h="1097280">
                  <a:moveTo>
                    <a:pt x="0" y="0"/>
                  </a:moveTo>
                  <a:lnTo>
                    <a:pt x="12070080" y="0"/>
                  </a:lnTo>
                  <a:lnTo>
                    <a:pt x="12070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207008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Real-time location for every key and vehicle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18823" y="4405636"/>
            <a:ext cx="939803" cy="939803"/>
            <a:chOff x="0" y="0"/>
            <a:chExt cx="1253071" cy="12530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50976" y="4637789"/>
            <a:ext cx="475488" cy="475488"/>
            <a:chOff x="0" y="0"/>
            <a:chExt cx="633984" cy="633984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633984" cy="633984"/>
            </a:xfrm>
            <a:custGeom>
              <a:avLst/>
              <a:gdLst/>
              <a:ahLst/>
              <a:cxnLst/>
              <a:rect l="l" t="t" r="r" b="b"/>
              <a:pathLst>
                <a:path w="633984" h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20240" y="4509773"/>
            <a:ext cx="9052560" cy="822960"/>
            <a:chOff x="0" y="0"/>
            <a:chExt cx="12070080" cy="10972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070080" cy="1097280"/>
            </a:xfrm>
            <a:custGeom>
              <a:avLst/>
              <a:gdLst/>
              <a:ahLst/>
              <a:cxnLst/>
              <a:rect l="l" t="t" r="r" b="b"/>
              <a:pathLst>
                <a:path w="12070080" h="1097280">
                  <a:moveTo>
                    <a:pt x="0" y="0"/>
                  </a:moveTo>
                  <a:lnTo>
                    <a:pt x="12070080" y="0"/>
                  </a:lnTo>
                  <a:lnTo>
                    <a:pt x="12070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207008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Instant search by VIN, stock #, or name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8823" y="5583565"/>
            <a:ext cx="939803" cy="939803"/>
            <a:chOff x="0" y="0"/>
            <a:chExt cx="1253071" cy="125307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0976" y="5815717"/>
            <a:ext cx="475488" cy="475488"/>
            <a:chOff x="0" y="0"/>
            <a:chExt cx="633984" cy="633984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633984" cy="633984"/>
            </a:xfrm>
            <a:custGeom>
              <a:avLst/>
              <a:gdLst/>
              <a:ahLst/>
              <a:cxnLst/>
              <a:rect l="l" t="t" r="r" b="b"/>
              <a:pathLst>
                <a:path w="633984" h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920240" y="5687701"/>
            <a:ext cx="9052560" cy="822960"/>
            <a:chOff x="0" y="0"/>
            <a:chExt cx="12070080" cy="10972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070080" cy="1097280"/>
            </a:xfrm>
            <a:custGeom>
              <a:avLst/>
              <a:gdLst/>
              <a:ahLst/>
              <a:cxnLst/>
              <a:rect l="l" t="t" r="r" b="b"/>
              <a:pathLst>
                <a:path w="12070080" h="1097280">
                  <a:moveTo>
                    <a:pt x="0" y="0"/>
                  </a:moveTo>
                  <a:lnTo>
                    <a:pt x="12070080" y="0"/>
                  </a:lnTo>
                  <a:lnTo>
                    <a:pt x="12070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1207008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After-hours movement alerts &amp; geofencing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8823" y="6761493"/>
            <a:ext cx="939803" cy="939803"/>
            <a:chOff x="0" y="0"/>
            <a:chExt cx="1253071" cy="125307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0976" y="6993646"/>
            <a:ext cx="475488" cy="475488"/>
            <a:chOff x="0" y="0"/>
            <a:chExt cx="633984" cy="633984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633984" cy="633984"/>
            </a:xfrm>
            <a:custGeom>
              <a:avLst/>
              <a:gdLst/>
              <a:ahLst/>
              <a:cxnLst/>
              <a:rect l="l" t="t" r="r" b="b"/>
              <a:pathLst>
                <a:path w="633984" h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920240" y="6865630"/>
            <a:ext cx="9052560" cy="822960"/>
            <a:chOff x="0" y="0"/>
            <a:chExt cx="12070080" cy="10972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070080" cy="1097280"/>
            </a:xfrm>
            <a:custGeom>
              <a:avLst/>
              <a:gdLst/>
              <a:ahLst/>
              <a:cxnLst/>
              <a:rect l="l" t="t" r="r" b="b"/>
              <a:pathLst>
                <a:path w="12070080" h="1097280">
                  <a:moveTo>
                    <a:pt x="0" y="0"/>
                  </a:moveTo>
                  <a:lnTo>
                    <a:pt x="12070080" y="0"/>
                  </a:lnTo>
                  <a:lnTo>
                    <a:pt x="12070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1207008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Multi-lot tracking from one dashboard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18823" y="7939421"/>
            <a:ext cx="939803" cy="939803"/>
            <a:chOff x="0" y="0"/>
            <a:chExt cx="1253071" cy="125307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0976" y="8171574"/>
            <a:ext cx="475488" cy="475488"/>
            <a:chOff x="0" y="0"/>
            <a:chExt cx="633984" cy="633984"/>
          </a:xfrm>
        </p:grpSpPr>
        <p:sp>
          <p:nvSpPr>
            <p:cNvPr id="40" name="Freeform 40" descr="preencoded.png"/>
            <p:cNvSpPr/>
            <p:nvPr/>
          </p:nvSpPr>
          <p:spPr>
            <a:xfrm>
              <a:off x="0" y="0"/>
              <a:ext cx="633984" cy="633984"/>
            </a:xfrm>
            <a:custGeom>
              <a:avLst/>
              <a:gdLst/>
              <a:ahLst/>
              <a:cxnLst/>
              <a:rect l="l" t="t" r="r" b="b"/>
              <a:pathLst>
                <a:path w="633984" h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920240" y="8043558"/>
            <a:ext cx="9052560" cy="822960"/>
            <a:chOff x="0" y="0"/>
            <a:chExt cx="12070080" cy="10972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070080" cy="1097280"/>
            </a:xfrm>
            <a:custGeom>
              <a:avLst/>
              <a:gdLst/>
              <a:ahLst/>
              <a:cxnLst/>
              <a:rect l="l" t="t" r="r" b="b"/>
              <a:pathLst>
                <a:path w="12070080" h="1097280">
                  <a:moveTo>
                    <a:pt x="0" y="0"/>
                  </a:moveTo>
                  <a:lnTo>
                    <a:pt x="12070080" y="0"/>
                  </a:lnTo>
                  <a:lnTo>
                    <a:pt x="12070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1207008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Full key and car accountability — who had it, where it went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-1966771" y="9587997"/>
            <a:ext cx="22586340" cy="910329"/>
            <a:chOff x="0" y="0"/>
            <a:chExt cx="30115120" cy="121377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0115157" cy="1213810"/>
            </a:xfrm>
            <a:custGeom>
              <a:avLst/>
              <a:gdLst/>
              <a:ahLst/>
              <a:cxnLst/>
              <a:rect l="l" t="t" r="r" b="b"/>
              <a:pathLst>
                <a:path w="30115157" h="1213810">
                  <a:moveTo>
                    <a:pt x="0" y="0"/>
                  </a:moveTo>
                  <a:lnTo>
                    <a:pt x="30115157" y="0"/>
                  </a:lnTo>
                  <a:lnTo>
                    <a:pt x="30115157" y="1213810"/>
                  </a:lnTo>
                  <a:lnTo>
                    <a:pt x="0" y="1213810"/>
                  </a:lnTo>
                  <a:close/>
                </a:path>
              </a:pathLst>
            </a:custGeom>
            <a:solidFill>
              <a:srgbClr val="1A1E24"/>
            </a:solidFill>
            <a:ln w="25400" cap="sq">
              <a:solidFill>
                <a:srgbClr val="1A1E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-185456" y="9711822"/>
            <a:ext cx="18658912" cy="484876"/>
            <a:chOff x="0" y="0"/>
            <a:chExt cx="24878549" cy="64650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4878550" cy="646501"/>
            </a:xfrm>
            <a:custGeom>
              <a:avLst/>
              <a:gdLst/>
              <a:ahLst/>
              <a:cxnLst/>
              <a:rect l="l" t="t" r="r" b="b"/>
              <a:pathLst>
                <a:path w="24878550" h="646501">
                  <a:moveTo>
                    <a:pt x="0" y="0"/>
                  </a:moveTo>
                  <a:lnTo>
                    <a:pt x="24878550" y="0"/>
                  </a:lnTo>
                  <a:lnTo>
                    <a:pt x="24878550" y="646501"/>
                  </a:lnTo>
                  <a:lnTo>
                    <a:pt x="0" y="646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5774" r="9828" b="-6364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24878549" cy="6655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 spc="6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100,000+ ASSETS TRACKED   |   90% ADOPTION   |   ZERO LOST KEYS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160631" y="2995165"/>
            <a:ext cx="8535505" cy="5073272"/>
            <a:chOff x="0" y="0"/>
            <a:chExt cx="11380673" cy="676436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1380724" cy="6764401"/>
            </a:xfrm>
            <a:custGeom>
              <a:avLst/>
              <a:gdLst/>
              <a:ahLst/>
              <a:cxnLst/>
              <a:rect l="l" t="t" r="r" b="b"/>
              <a:pathLst>
                <a:path w="11380724" h="6764401">
                  <a:moveTo>
                    <a:pt x="152400" y="0"/>
                  </a:moveTo>
                  <a:lnTo>
                    <a:pt x="11228324" y="0"/>
                  </a:lnTo>
                  <a:cubicBezTo>
                    <a:pt x="11268743" y="0"/>
                    <a:pt x="11307507" y="16056"/>
                    <a:pt x="11336087" y="44637"/>
                  </a:cubicBezTo>
                  <a:cubicBezTo>
                    <a:pt x="11364668" y="73217"/>
                    <a:pt x="11380724" y="111981"/>
                    <a:pt x="11380724" y="152400"/>
                  </a:cubicBezTo>
                  <a:lnTo>
                    <a:pt x="11380724" y="6612001"/>
                  </a:lnTo>
                  <a:cubicBezTo>
                    <a:pt x="11380724" y="6696170"/>
                    <a:pt x="11312492" y="6764401"/>
                    <a:pt x="11228324" y="6764401"/>
                  </a:cubicBezTo>
                  <a:lnTo>
                    <a:pt x="152400" y="6764401"/>
                  </a:lnTo>
                  <a:cubicBezTo>
                    <a:pt x="111981" y="6764401"/>
                    <a:pt x="73217" y="6748345"/>
                    <a:pt x="44637" y="6719764"/>
                  </a:cubicBezTo>
                  <a:cubicBezTo>
                    <a:pt x="16056" y="6691184"/>
                    <a:pt x="0" y="6652420"/>
                    <a:pt x="0" y="6612001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blipFill>
              <a:blip r:embed="rId9"/>
              <a:stretch>
                <a:fillRect l="-1105" t="-1013" r="-2739" b="-5755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 rot="5400000">
            <a:off x="9195458" y="-443150"/>
            <a:ext cx="49910" cy="20012384"/>
            <a:chOff x="0" y="0"/>
            <a:chExt cx="34292" cy="1374987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4330" cy="13749910"/>
            </a:xfrm>
            <a:custGeom>
              <a:avLst/>
              <a:gdLst/>
              <a:ahLst/>
              <a:cxnLst/>
              <a:rect l="l" t="t" r="r" b="b"/>
              <a:pathLst>
                <a:path w="34330" h="13749910">
                  <a:moveTo>
                    <a:pt x="0" y="0"/>
                  </a:moveTo>
                  <a:lnTo>
                    <a:pt x="34330" y="0"/>
                  </a:lnTo>
                  <a:lnTo>
                    <a:pt x="34330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8AC833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" name="Freeform 53"/>
          <p:cNvSpPr/>
          <p:nvPr/>
        </p:nvSpPr>
        <p:spPr>
          <a:xfrm>
            <a:off x="14373868" y="489585"/>
            <a:ext cx="3322267" cy="819885"/>
          </a:xfrm>
          <a:custGeom>
            <a:avLst/>
            <a:gdLst/>
            <a:ahLst/>
            <a:cxnLst/>
            <a:rect l="l" t="t" r="r" b="b"/>
            <a:pathLst>
              <a:path w="3322267" h="819885">
                <a:moveTo>
                  <a:pt x="0" y="0"/>
                </a:moveTo>
                <a:lnTo>
                  <a:pt x="3322268" y="0"/>
                </a:lnTo>
                <a:lnTo>
                  <a:pt x="3322268" y="819885"/>
                </a:lnTo>
                <a:lnTo>
                  <a:pt x="0" y="8198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8698" r="869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9627" y="551840"/>
            <a:ext cx="13945724" cy="457200"/>
            <a:chOff x="0" y="0"/>
            <a:chExt cx="18594299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594299" cy="609600"/>
            </a:xfrm>
            <a:custGeom>
              <a:avLst/>
              <a:gdLst/>
              <a:ahLst/>
              <a:cxnLst/>
              <a:rect l="l" t="t" r="r" b="b"/>
              <a:pathLst>
                <a:path w="18594299" h="609600">
                  <a:moveTo>
                    <a:pt x="0" y="0"/>
                  </a:moveTo>
                  <a:lnTo>
                    <a:pt x="18594299" y="0"/>
                  </a:lnTo>
                  <a:lnTo>
                    <a:pt x="18594299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1461" r="-18023" b="-65146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8594299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799">
                  <a:solidFill>
                    <a:srgbClr val="8AC8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WORKFLOW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31520" y="994410"/>
            <a:ext cx="1425562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1">
                <a:solidFill>
                  <a:srgbClr val="1A1E24"/>
                </a:solidFill>
                <a:latin typeface="Arial Bold"/>
                <a:ea typeface="Arial Bold"/>
                <a:cs typeface="Arial Bold"/>
                <a:sym typeface="Arial Bold"/>
              </a:rPr>
              <a:t>Service &amp; Recon </a:t>
            </a:r>
            <a:r>
              <a:rPr lang="en-US" sz="6400" b="1" i="1">
                <a:solidFill>
                  <a:srgbClr val="8AC83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Workflow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31520" y="1988368"/>
            <a:ext cx="16385329" cy="534304"/>
            <a:chOff x="0" y="0"/>
            <a:chExt cx="22433280" cy="7315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433280" cy="731520"/>
            </a:xfrm>
            <a:custGeom>
              <a:avLst/>
              <a:gdLst/>
              <a:ahLst/>
              <a:cxnLst/>
              <a:rect l="l" t="t" r="r" b="b"/>
              <a:pathLst>
                <a:path w="22433280" h="73152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7541" b="-54754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243328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A4A4A"/>
                  </a:solidFill>
                  <a:latin typeface="Arial"/>
                  <a:ea typeface="Arial"/>
                  <a:cs typeface="Arial"/>
                  <a:sym typeface="Arial"/>
                </a:rPr>
                <a:t>Powered by </a:t>
              </a:r>
              <a:r>
                <a:rPr lang="en-US" sz="2400" b="1">
                  <a:solidFill>
                    <a:srgbClr val="8AC8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LocateIQ</a:t>
              </a:r>
              <a:r>
                <a:rPr lang="en-US" sz="2400" i="1">
                  <a:solidFill>
                    <a:srgbClr val="4A4A4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 — the only workflow that knows where the car physically is.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31520" y="8721273"/>
            <a:ext cx="4151376" cy="914400"/>
            <a:chOff x="0" y="0"/>
            <a:chExt cx="5535168" cy="1219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35168" cy="1219200"/>
            </a:xfrm>
            <a:custGeom>
              <a:avLst/>
              <a:gdLst/>
              <a:ahLst/>
              <a:cxnLst/>
              <a:rect l="l" t="t" r="r" b="b"/>
              <a:pathLst>
                <a:path w="5535168" h="1219200">
                  <a:moveTo>
                    <a:pt x="0" y="0"/>
                  </a:moveTo>
                  <a:lnTo>
                    <a:pt x="5535168" y="0"/>
                  </a:lnTo>
                  <a:lnTo>
                    <a:pt x="55351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462" b="-384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535168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8AC8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64%</a:t>
              </a:r>
              <a:r>
                <a:rPr lang="en-US" sz="2200" i="1">
                  <a:solidFill>
                    <a:srgbClr val="4A4A4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  out in 60 min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157216" y="8721273"/>
            <a:ext cx="4151376" cy="914400"/>
            <a:chOff x="0" y="0"/>
            <a:chExt cx="5535168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35168" cy="1219200"/>
            </a:xfrm>
            <a:custGeom>
              <a:avLst/>
              <a:gdLst/>
              <a:ahLst/>
              <a:cxnLst/>
              <a:rect l="l" t="t" r="r" b="b"/>
              <a:pathLst>
                <a:path w="5535168" h="1219200">
                  <a:moveTo>
                    <a:pt x="0" y="0"/>
                  </a:moveTo>
                  <a:lnTo>
                    <a:pt x="5535168" y="0"/>
                  </a:lnTo>
                  <a:lnTo>
                    <a:pt x="55351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462" b="-384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5535168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8AC8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15 min</a:t>
              </a:r>
              <a:r>
                <a:rPr lang="en-US" sz="2200" i="1">
                  <a:solidFill>
                    <a:srgbClr val="4A4A4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  saved per RO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582912" y="8721273"/>
            <a:ext cx="4151376" cy="914400"/>
            <a:chOff x="0" y="0"/>
            <a:chExt cx="5535168" cy="1219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35168" cy="1219200"/>
            </a:xfrm>
            <a:custGeom>
              <a:avLst/>
              <a:gdLst/>
              <a:ahLst/>
              <a:cxnLst/>
              <a:rect l="l" t="t" r="r" b="b"/>
              <a:pathLst>
                <a:path w="5535168" h="1219200">
                  <a:moveTo>
                    <a:pt x="0" y="0"/>
                  </a:moveTo>
                  <a:lnTo>
                    <a:pt x="5535168" y="0"/>
                  </a:lnTo>
                  <a:lnTo>
                    <a:pt x="55351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462" b="-384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5535168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8AC8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3-5</a:t>
              </a:r>
              <a:r>
                <a:rPr lang="en-US" sz="2200" i="1">
                  <a:solidFill>
                    <a:srgbClr val="4A4A4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  days recon turn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008608" y="8721273"/>
            <a:ext cx="4151376" cy="914400"/>
            <a:chOff x="0" y="0"/>
            <a:chExt cx="5535168" cy="1219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535168" cy="1219200"/>
            </a:xfrm>
            <a:custGeom>
              <a:avLst/>
              <a:gdLst/>
              <a:ahLst/>
              <a:cxnLst/>
              <a:rect l="l" t="t" r="r" b="b"/>
              <a:pathLst>
                <a:path w="5535168" h="1219200">
                  <a:moveTo>
                    <a:pt x="0" y="0"/>
                  </a:moveTo>
                  <a:lnTo>
                    <a:pt x="5535168" y="0"/>
                  </a:lnTo>
                  <a:lnTo>
                    <a:pt x="55351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462" b="-384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5535168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8AC8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100%</a:t>
              </a:r>
              <a:r>
                <a:rPr lang="en-US" sz="2200" i="1">
                  <a:solidFill>
                    <a:srgbClr val="4A4A4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  automated stages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1966771" y="9587997"/>
            <a:ext cx="22586340" cy="910329"/>
            <a:chOff x="0" y="0"/>
            <a:chExt cx="30115120" cy="12137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115157" cy="1213810"/>
            </a:xfrm>
            <a:custGeom>
              <a:avLst/>
              <a:gdLst/>
              <a:ahLst/>
              <a:cxnLst/>
              <a:rect l="l" t="t" r="r" b="b"/>
              <a:pathLst>
                <a:path w="30115157" h="1213810">
                  <a:moveTo>
                    <a:pt x="0" y="0"/>
                  </a:moveTo>
                  <a:lnTo>
                    <a:pt x="30115157" y="0"/>
                  </a:lnTo>
                  <a:lnTo>
                    <a:pt x="30115157" y="1213810"/>
                  </a:lnTo>
                  <a:lnTo>
                    <a:pt x="0" y="1213810"/>
                  </a:lnTo>
                  <a:close/>
                </a:path>
              </a:pathLst>
            </a:custGeom>
            <a:solidFill>
              <a:srgbClr val="1A1E24"/>
            </a:solidFill>
            <a:ln w="25400" cap="sq">
              <a:solidFill>
                <a:srgbClr val="1A1E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9195458" y="-443150"/>
            <a:ext cx="49910" cy="20012384"/>
            <a:chOff x="0" y="0"/>
            <a:chExt cx="34292" cy="1374987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4330" cy="13749910"/>
            </a:xfrm>
            <a:custGeom>
              <a:avLst/>
              <a:gdLst/>
              <a:ahLst/>
              <a:cxnLst/>
              <a:rect l="l" t="t" r="r" b="b"/>
              <a:pathLst>
                <a:path w="34330" h="13749910">
                  <a:moveTo>
                    <a:pt x="0" y="0"/>
                  </a:moveTo>
                  <a:lnTo>
                    <a:pt x="34330" y="0"/>
                  </a:lnTo>
                  <a:lnTo>
                    <a:pt x="34330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8AC833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-854546" y="9446895"/>
            <a:ext cx="19997092" cy="960239"/>
            <a:chOff x="0" y="0"/>
            <a:chExt cx="22433280" cy="107722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433280" cy="1077222"/>
            </a:xfrm>
            <a:custGeom>
              <a:avLst/>
              <a:gdLst/>
              <a:ahLst/>
              <a:cxnLst/>
              <a:rect l="l" t="t" r="r" b="b"/>
              <a:pathLst>
                <a:path w="22433280" h="1077222">
                  <a:moveTo>
                    <a:pt x="0" y="0"/>
                  </a:moveTo>
                  <a:lnTo>
                    <a:pt x="22433280" y="0"/>
                  </a:lnTo>
                  <a:lnTo>
                    <a:pt x="22433280" y="1077222"/>
                  </a:lnTo>
                  <a:lnTo>
                    <a:pt x="0" y="1077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0878" b="-33067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22433280" cy="1096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 spc="51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DESKTOP + MOBILE   •   AUTO STAGE UPDATES   •   REAL-TIME BOTTLENECK ALERTS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2049449" y="2823453"/>
            <a:ext cx="8743570" cy="5825403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70" y="0"/>
                </a:lnTo>
                <a:lnTo>
                  <a:pt x="874357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2003227" y="2255520"/>
            <a:ext cx="4235323" cy="6356958"/>
          </a:xfrm>
          <a:custGeom>
            <a:avLst/>
            <a:gdLst/>
            <a:ahLst/>
            <a:cxnLst/>
            <a:rect l="l" t="t" r="r" b="b"/>
            <a:pathLst>
              <a:path w="4235323" h="6356958">
                <a:moveTo>
                  <a:pt x="0" y="0"/>
                </a:moveTo>
                <a:lnTo>
                  <a:pt x="4235324" y="0"/>
                </a:lnTo>
                <a:lnTo>
                  <a:pt x="423532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4373868" y="489585"/>
            <a:ext cx="3322267" cy="819885"/>
          </a:xfrm>
          <a:custGeom>
            <a:avLst/>
            <a:gdLst/>
            <a:ahLst/>
            <a:cxnLst/>
            <a:rect l="l" t="t" r="r" b="b"/>
            <a:pathLst>
              <a:path w="3322267" h="819885">
                <a:moveTo>
                  <a:pt x="0" y="0"/>
                </a:moveTo>
                <a:lnTo>
                  <a:pt x="3322268" y="0"/>
                </a:lnTo>
                <a:lnTo>
                  <a:pt x="3322268" y="819885"/>
                </a:lnTo>
                <a:lnTo>
                  <a:pt x="0" y="8198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8698" r="869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46EEA-3A8B-4286-8100-5E842153E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498F6CC-7562-5322-380E-F1A9ED56BC91}"/>
              </a:ext>
            </a:extLst>
          </p:cNvPr>
          <p:cNvSpPr/>
          <p:nvPr/>
        </p:nvSpPr>
        <p:spPr>
          <a:xfrm>
            <a:off x="14373868" y="489585"/>
            <a:ext cx="3322267" cy="819885"/>
          </a:xfrm>
          <a:custGeom>
            <a:avLst/>
            <a:gdLst/>
            <a:ahLst/>
            <a:cxnLst/>
            <a:rect l="l" t="t" r="r" b="b"/>
            <a:pathLst>
              <a:path w="3322267" h="819885">
                <a:moveTo>
                  <a:pt x="0" y="0"/>
                </a:moveTo>
                <a:lnTo>
                  <a:pt x="3322268" y="0"/>
                </a:lnTo>
                <a:lnTo>
                  <a:pt x="3322268" y="819885"/>
                </a:lnTo>
                <a:lnTo>
                  <a:pt x="0" y="819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8698" r="869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E401C98B-CAED-24A1-DEF5-902990472FEA}"/>
              </a:ext>
            </a:extLst>
          </p:cNvPr>
          <p:cNvGrpSpPr/>
          <p:nvPr/>
        </p:nvGrpSpPr>
        <p:grpSpPr>
          <a:xfrm>
            <a:off x="789627" y="551840"/>
            <a:ext cx="13945724" cy="457200"/>
            <a:chOff x="0" y="0"/>
            <a:chExt cx="18594299" cy="6096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2E551B7-FA75-DF7A-EC4F-1A758E4116BA}"/>
                </a:ext>
              </a:extLst>
            </p:cNvPr>
            <p:cNvSpPr/>
            <p:nvPr/>
          </p:nvSpPr>
          <p:spPr>
            <a:xfrm>
              <a:off x="0" y="0"/>
              <a:ext cx="18594299" cy="609600"/>
            </a:xfrm>
            <a:custGeom>
              <a:avLst/>
              <a:gdLst/>
              <a:ahLst/>
              <a:cxnLst/>
              <a:rect l="l" t="t" r="r" b="b"/>
              <a:pathLst>
                <a:path w="18594299" h="609600">
                  <a:moveTo>
                    <a:pt x="0" y="0"/>
                  </a:moveTo>
                  <a:lnTo>
                    <a:pt x="18594299" y="0"/>
                  </a:lnTo>
                  <a:lnTo>
                    <a:pt x="18594299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1461" r="-18023" b="-65146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7B43857-2159-3463-C93F-8DE648AB543C}"/>
                </a:ext>
              </a:extLst>
            </p:cNvPr>
            <p:cNvSpPr txBox="1"/>
            <p:nvPr/>
          </p:nvSpPr>
          <p:spPr>
            <a:xfrm>
              <a:off x="0" y="-19050"/>
              <a:ext cx="18594299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799" dirty="0">
                  <a:solidFill>
                    <a:srgbClr val="8AC8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Reconditioning Workflow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BACCFED0-1B60-7576-CFC4-7252569D59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00" y="-58384"/>
            <a:ext cx="17799800" cy="1167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0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18EC4-E5B1-AE6A-F7D2-34315DB5E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F91F3B5-ABDB-6021-033C-D33CAA70A06A}"/>
              </a:ext>
            </a:extLst>
          </p:cNvPr>
          <p:cNvSpPr/>
          <p:nvPr/>
        </p:nvSpPr>
        <p:spPr>
          <a:xfrm>
            <a:off x="14373868" y="489585"/>
            <a:ext cx="3322267" cy="819885"/>
          </a:xfrm>
          <a:custGeom>
            <a:avLst/>
            <a:gdLst/>
            <a:ahLst/>
            <a:cxnLst/>
            <a:rect l="l" t="t" r="r" b="b"/>
            <a:pathLst>
              <a:path w="3322267" h="819885">
                <a:moveTo>
                  <a:pt x="0" y="0"/>
                </a:moveTo>
                <a:lnTo>
                  <a:pt x="3322268" y="0"/>
                </a:lnTo>
                <a:lnTo>
                  <a:pt x="3322268" y="819885"/>
                </a:lnTo>
                <a:lnTo>
                  <a:pt x="0" y="819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8698" r="869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E792BF0-914A-5513-D962-CE4222C136E7}"/>
              </a:ext>
            </a:extLst>
          </p:cNvPr>
          <p:cNvGrpSpPr/>
          <p:nvPr/>
        </p:nvGrpSpPr>
        <p:grpSpPr>
          <a:xfrm>
            <a:off x="789627" y="551840"/>
            <a:ext cx="13945724" cy="457200"/>
            <a:chOff x="0" y="0"/>
            <a:chExt cx="18594299" cy="6096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6262C3D-C6E4-1392-016E-902FDC805143}"/>
                </a:ext>
              </a:extLst>
            </p:cNvPr>
            <p:cNvSpPr/>
            <p:nvPr/>
          </p:nvSpPr>
          <p:spPr>
            <a:xfrm>
              <a:off x="0" y="0"/>
              <a:ext cx="18594299" cy="609600"/>
            </a:xfrm>
            <a:custGeom>
              <a:avLst/>
              <a:gdLst/>
              <a:ahLst/>
              <a:cxnLst/>
              <a:rect l="l" t="t" r="r" b="b"/>
              <a:pathLst>
                <a:path w="18594299" h="609600">
                  <a:moveTo>
                    <a:pt x="0" y="0"/>
                  </a:moveTo>
                  <a:lnTo>
                    <a:pt x="18594299" y="0"/>
                  </a:lnTo>
                  <a:lnTo>
                    <a:pt x="18594299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1461" r="-18023" b="-65146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344F063-E4B4-C324-0577-D03EA086098E}"/>
                </a:ext>
              </a:extLst>
            </p:cNvPr>
            <p:cNvSpPr txBox="1"/>
            <p:nvPr/>
          </p:nvSpPr>
          <p:spPr>
            <a:xfrm>
              <a:off x="0" y="-19050"/>
              <a:ext cx="18594299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799" dirty="0">
                  <a:solidFill>
                    <a:srgbClr val="8AC8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Reconditioning Workflow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22DA4CD8-399C-45BA-903D-7FBEE92CA1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94" y="26068"/>
            <a:ext cx="18251905" cy="1030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06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>
            <a:extLst>
              <a:ext uri="{FF2B5EF4-FFF2-40B4-BE49-F238E27FC236}">
                <a16:creationId xmlns:a16="http://schemas.microsoft.com/office/drawing/2014/main" id="{231E4CA4-9555-2E91-5619-BA30465BA01F}"/>
              </a:ext>
            </a:extLst>
          </p:cNvPr>
          <p:cNvSpPr/>
          <p:nvPr/>
        </p:nvSpPr>
        <p:spPr>
          <a:xfrm>
            <a:off x="0" y="0"/>
            <a:ext cx="18288000" cy="103251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3B1642AA-9FF3-1F1B-3310-42003844C1F2}"/>
              </a:ext>
            </a:extLst>
          </p:cNvPr>
          <p:cNvSpPr/>
          <p:nvPr/>
        </p:nvSpPr>
        <p:spPr>
          <a:xfrm>
            <a:off x="14373868" y="114300"/>
            <a:ext cx="3322267" cy="819885"/>
          </a:xfrm>
          <a:custGeom>
            <a:avLst/>
            <a:gdLst/>
            <a:ahLst/>
            <a:cxnLst/>
            <a:rect l="l" t="t" r="r" b="b"/>
            <a:pathLst>
              <a:path w="3322267" h="819885">
                <a:moveTo>
                  <a:pt x="0" y="0"/>
                </a:moveTo>
                <a:lnTo>
                  <a:pt x="3322268" y="0"/>
                </a:lnTo>
                <a:lnTo>
                  <a:pt x="3322268" y="819885"/>
                </a:lnTo>
                <a:lnTo>
                  <a:pt x="0" y="819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8698" r="869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1FE09875-B956-3D61-E875-33D119D972FE}"/>
              </a:ext>
            </a:extLst>
          </p:cNvPr>
          <p:cNvGrpSpPr/>
          <p:nvPr/>
        </p:nvGrpSpPr>
        <p:grpSpPr>
          <a:xfrm>
            <a:off x="789627" y="196215"/>
            <a:ext cx="13945724" cy="457200"/>
            <a:chOff x="0" y="0"/>
            <a:chExt cx="18594299" cy="609600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AE9F7A65-4DE1-9413-8B21-25570CD7C939}"/>
                </a:ext>
              </a:extLst>
            </p:cNvPr>
            <p:cNvSpPr/>
            <p:nvPr/>
          </p:nvSpPr>
          <p:spPr>
            <a:xfrm>
              <a:off x="0" y="0"/>
              <a:ext cx="18594299" cy="609600"/>
            </a:xfrm>
            <a:custGeom>
              <a:avLst/>
              <a:gdLst/>
              <a:ahLst/>
              <a:cxnLst/>
              <a:rect l="l" t="t" r="r" b="b"/>
              <a:pathLst>
                <a:path w="18594299" h="609600">
                  <a:moveTo>
                    <a:pt x="0" y="0"/>
                  </a:moveTo>
                  <a:lnTo>
                    <a:pt x="18594299" y="0"/>
                  </a:lnTo>
                  <a:lnTo>
                    <a:pt x="18594299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1461" r="-18023" b="-65146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430EA092-9B0F-D869-2704-49BBD6E34BA7}"/>
                </a:ext>
              </a:extLst>
            </p:cNvPr>
            <p:cNvSpPr txBox="1"/>
            <p:nvPr/>
          </p:nvSpPr>
          <p:spPr>
            <a:xfrm>
              <a:off x="0" y="-19050"/>
              <a:ext cx="18594299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799" dirty="0">
                  <a:solidFill>
                    <a:srgbClr val="8AC8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MOBILE DASHBOARDS</a:t>
              </a:r>
            </a:p>
          </p:txBody>
        </p:sp>
      </p:grpSp>
      <p:pic>
        <p:nvPicPr>
          <p:cNvPr id="2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73" y="57862"/>
            <a:ext cx="6341405" cy="11105438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3297" y="57862"/>
            <a:ext cx="6341405" cy="11105438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9122" y="57862"/>
            <a:ext cx="6341405" cy="111054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C0ED7-C94F-3F34-5CD5-E8169A80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C77E8A1-88A0-EBD3-BDAE-0C3A0AF201F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EA90A9E-34DC-4E78-BB91-AAE3E0654C84}"/>
              </a:ext>
            </a:extLst>
          </p:cNvPr>
          <p:cNvSpPr/>
          <p:nvPr/>
        </p:nvSpPr>
        <p:spPr>
          <a:xfrm>
            <a:off x="14373868" y="489585"/>
            <a:ext cx="3322267" cy="819885"/>
          </a:xfrm>
          <a:custGeom>
            <a:avLst/>
            <a:gdLst/>
            <a:ahLst/>
            <a:cxnLst/>
            <a:rect l="l" t="t" r="r" b="b"/>
            <a:pathLst>
              <a:path w="3322267" h="819885">
                <a:moveTo>
                  <a:pt x="0" y="0"/>
                </a:moveTo>
                <a:lnTo>
                  <a:pt x="3322268" y="0"/>
                </a:lnTo>
                <a:lnTo>
                  <a:pt x="3322268" y="819885"/>
                </a:lnTo>
                <a:lnTo>
                  <a:pt x="0" y="819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8698" r="869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1872951E-6F7A-E5F0-6B9E-457B3CEDB6FC}"/>
              </a:ext>
            </a:extLst>
          </p:cNvPr>
          <p:cNvGrpSpPr/>
          <p:nvPr/>
        </p:nvGrpSpPr>
        <p:grpSpPr>
          <a:xfrm>
            <a:off x="789627" y="551840"/>
            <a:ext cx="13945724" cy="457200"/>
            <a:chOff x="0" y="0"/>
            <a:chExt cx="18594299" cy="6096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5A6DD04-1DC9-AAEE-AC4D-BDAD8B7F75E6}"/>
                </a:ext>
              </a:extLst>
            </p:cNvPr>
            <p:cNvSpPr/>
            <p:nvPr/>
          </p:nvSpPr>
          <p:spPr>
            <a:xfrm>
              <a:off x="0" y="0"/>
              <a:ext cx="18594299" cy="609600"/>
            </a:xfrm>
            <a:custGeom>
              <a:avLst/>
              <a:gdLst/>
              <a:ahLst/>
              <a:cxnLst/>
              <a:rect l="l" t="t" r="r" b="b"/>
              <a:pathLst>
                <a:path w="18594299" h="609600">
                  <a:moveTo>
                    <a:pt x="0" y="0"/>
                  </a:moveTo>
                  <a:lnTo>
                    <a:pt x="18594299" y="0"/>
                  </a:lnTo>
                  <a:lnTo>
                    <a:pt x="18594299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1461" r="-18023" b="-65146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12063CB-91BB-4755-23F9-E4603D79A08F}"/>
                </a:ext>
              </a:extLst>
            </p:cNvPr>
            <p:cNvSpPr txBox="1"/>
            <p:nvPr/>
          </p:nvSpPr>
          <p:spPr>
            <a:xfrm>
              <a:off x="0" y="-19050"/>
              <a:ext cx="18594299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799" dirty="0">
                  <a:solidFill>
                    <a:srgbClr val="8AC8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Lot Management Program Pricing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4B91251-47E4-D58B-D448-64E37A875C95}"/>
              </a:ext>
            </a:extLst>
          </p:cNvPr>
          <p:cNvSpPr txBox="1"/>
          <p:nvPr/>
        </p:nvSpPr>
        <p:spPr>
          <a:xfrm>
            <a:off x="2209800" y="2628900"/>
            <a:ext cx="11734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Lot management/rapid recon software bundle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$1,995/Rooftop</a:t>
            </a:r>
          </a:p>
          <a:p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Devices - $65/Vehicle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Can be recycled</a:t>
            </a:r>
          </a:p>
        </p:txBody>
      </p:sp>
    </p:spTree>
    <p:extLst>
      <p:ext uri="{BB962C8B-B14F-4D97-AF65-F5344CB8AC3E}">
        <p14:creationId xmlns:p14="http://schemas.microsoft.com/office/powerpoint/2010/main" val="3797180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80917-7EF8-B978-9C55-450DC9AED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2C909E4-2C8A-BEF8-E4B5-DB57756B958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0DBFA5E-0132-B111-DE1B-8D07F6E294B7}"/>
              </a:ext>
            </a:extLst>
          </p:cNvPr>
          <p:cNvSpPr/>
          <p:nvPr/>
        </p:nvSpPr>
        <p:spPr>
          <a:xfrm>
            <a:off x="14373868" y="489585"/>
            <a:ext cx="3322267" cy="819885"/>
          </a:xfrm>
          <a:custGeom>
            <a:avLst/>
            <a:gdLst/>
            <a:ahLst/>
            <a:cxnLst/>
            <a:rect l="l" t="t" r="r" b="b"/>
            <a:pathLst>
              <a:path w="3322267" h="819885">
                <a:moveTo>
                  <a:pt x="0" y="0"/>
                </a:moveTo>
                <a:lnTo>
                  <a:pt x="3322268" y="0"/>
                </a:lnTo>
                <a:lnTo>
                  <a:pt x="3322268" y="819885"/>
                </a:lnTo>
                <a:lnTo>
                  <a:pt x="0" y="819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8698" r="86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hlinkClick r:id="rId4" action="ppaction://hlinksldjump"/>
            <a:extLst>
              <a:ext uri="{FF2B5EF4-FFF2-40B4-BE49-F238E27FC236}">
                <a16:creationId xmlns:a16="http://schemas.microsoft.com/office/drawing/2014/main" id="{16559F12-44D4-4CB0-EDD3-B38DED0F16B2}"/>
              </a:ext>
            </a:extLst>
          </p:cNvPr>
          <p:cNvSpPr/>
          <p:nvPr/>
        </p:nvSpPr>
        <p:spPr>
          <a:xfrm>
            <a:off x="9236378" y="4252925"/>
            <a:ext cx="8237218" cy="2244642"/>
          </a:xfrm>
          <a:custGeom>
            <a:avLst/>
            <a:gdLst/>
            <a:ahLst/>
            <a:cxnLst/>
            <a:rect l="l" t="t" r="r" b="b"/>
            <a:pathLst>
              <a:path w="8237218" h="2244642">
                <a:moveTo>
                  <a:pt x="0" y="0"/>
                </a:moveTo>
                <a:lnTo>
                  <a:pt x="8237218" y="0"/>
                </a:lnTo>
                <a:lnTo>
                  <a:pt x="8237218" y="2244642"/>
                </a:lnTo>
                <a:lnTo>
                  <a:pt x="0" y="22446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A62E7F3-A538-0CD7-F0F5-591DC1C91CC9}"/>
              </a:ext>
            </a:extLst>
          </p:cNvPr>
          <p:cNvSpPr txBox="1"/>
          <p:nvPr/>
        </p:nvSpPr>
        <p:spPr>
          <a:xfrm>
            <a:off x="9525000" y="4724970"/>
            <a:ext cx="7696200" cy="1064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48"/>
              </a:lnSpc>
            </a:pPr>
            <a:r>
              <a:rPr lang="en-US" sz="6956" b="1" spc="-208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F&amp;I Upsell</a:t>
            </a:r>
          </a:p>
        </p:txBody>
      </p:sp>
      <p:sp>
        <p:nvSpPr>
          <p:cNvPr id="6" name="Freeform 6">
            <a:hlinkClick r:id="rId6" action="ppaction://hlinksldjump"/>
            <a:extLst>
              <a:ext uri="{FF2B5EF4-FFF2-40B4-BE49-F238E27FC236}">
                <a16:creationId xmlns:a16="http://schemas.microsoft.com/office/drawing/2014/main" id="{5177EEF0-469F-7CEA-050F-908F44E6F053}"/>
              </a:ext>
            </a:extLst>
          </p:cNvPr>
          <p:cNvSpPr/>
          <p:nvPr/>
        </p:nvSpPr>
        <p:spPr>
          <a:xfrm>
            <a:off x="814404" y="4252925"/>
            <a:ext cx="8237218" cy="2244642"/>
          </a:xfrm>
          <a:custGeom>
            <a:avLst/>
            <a:gdLst/>
            <a:ahLst/>
            <a:cxnLst/>
            <a:rect l="l" t="t" r="r" b="b"/>
            <a:pathLst>
              <a:path w="8237218" h="2244642">
                <a:moveTo>
                  <a:pt x="0" y="0"/>
                </a:moveTo>
                <a:lnTo>
                  <a:pt x="8237218" y="0"/>
                </a:lnTo>
                <a:lnTo>
                  <a:pt x="8237218" y="2244642"/>
                </a:lnTo>
                <a:lnTo>
                  <a:pt x="0" y="22446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CEA8239-8656-6DF4-A635-48F607D6BB7E}"/>
              </a:ext>
            </a:extLst>
          </p:cNvPr>
          <p:cNvSpPr txBox="1"/>
          <p:nvPr/>
        </p:nvSpPr>
        <p:spPr>
          <a:xfrm>
            <a:off x="1371600" y="4724970"/>
            <a:ext cx="7391400" cy="1064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48"/>
              </a:lnSpc>
            </a:pPr>
            <a:r>
              <a:rPr lang="en-US" sz="6956" b="1" spc="-208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Retail Preload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92B6A9FB-F674-70E8-6B2A-08C2E4E806DC}"/>
              </a:ext>
            </a:extLst>
          </p:cNvPr>
          <p:cNvGrpSpPr/>
          <p:nvPr/>
        </p:nvGrpSpPr>
        <p:grpSpPr>
          <a:xfrm>
            <a:off x="789627" y="551840"/>
            <a:ext cx="13945724" cy="457200"/>
            <a:chOff x="0" y="0"/>
            <a:chExt cx="18594299" cy="6096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EE4FDBF-8F62-6F4C-D3EC-2DE75A00263F}"/>
                </a:ext>
              </a:extLst>
            </p:cNvPr>
            <p:cNvSpPr/>
            <p:nvPr/>
          </p:nvSpPr>
          <p:spPr>
            <a:xfrm>
              <a:off x="0" y="0"/>
              <a:ext cx="18594299" cy="609600"/>
            </a:xfrm>
            <a:custGeom>
              <a:avLst/>
              <a:gdLst/>
              <a:ahLst/>
              <a:cxnLst/>
              <a:rect l="l" t="t" r="r" b="b"/>
              <a:pathLst>
                <a:path w="18594299" h="609600">
                  <a:moveTo>
                    <a:pt x="0" y="0"/>
                  </a:moveTo>
                  <a:lnTo>
                    <a:pt x="18594299" y="0"/>
                  </a:lnTo>
                  <a:lnTo>
                    <a:pt x="18594299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651461" r="-18023" b="-65146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DB7746E-EBCC-2308-6916-0DFF8653D870}"/>
                </a:ext>
              </a:extLst>
            </p:cNvPr>
            <p:cNvSpPr txBox="1"/>
            <p:nvPr/>
          </p:nvSpPr>
          <p:spPr>
            <a:xfrm>
              <a:off x="0" y="-19050"/>
              <a:ext cx="18594299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799" dirty="0">
                  <a:solidFill>
                    <a:srgbClr val="8AC8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SELL THROUGH OPTIONS – BROWN AND BROWN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1337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8823" y="2781300"/>
            <a:ext cx="848363" cy="848363"/>
            <a:chOff x="0" y="0"/>
            <a:chExt cx="1131151" cy="11311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2976877"/>
            <a:ext cx="457200" cy="457200"/>
            <a:chOff x="0" y="0"/>
            <a:chExt cx="609600" cy="6096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28800" y="2830573"/>
            <a:ext cx="6215776" cy="880151"/>
            <a:chOff x="0" y="0"/>
            <a:chExt cx="8287701" cy="11735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87701" cy="1173535"/>
            </a:xfrm>
            <a:custGeom>
              <a:avLst/>
              <a:gdLst/>
              <a:ahLst/>
              <a:cxnLst/>
              <a:rect l="l" t="t" r="r" b="b"/>
              <a:pathLst>
                <a:path w="8287701" h="1173535">
                  <a:moveTo>
                    <a:pt x="0" y="0"/>
                  </a:moveTo>
                  <a:lnTo>
                    <a:pt x="8287701" y="0"/>
                  </a:lnTo>
                  <a:lnTo>
                    <a:pt x="8287701" y="1173535"/>
                  </a:lnTo>
                  <a:lnTo>
                    <a:pt x="0" y="11735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584" r="-41225" b="-14108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8287701" cy="118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dirty="0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Every retail delivery leaves the lot with a </a:t>
              </a:r>
              <a:r>
                <a:rPr lang="en-US" sz="2499" dirty="0" err="1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VehicleVault</a:t>
              </a:r>
              <a:r>
                <a:rPr lang="en-US" sz="2499" dirty="0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 with 12 months of service/theft benefit – keys and vehicle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4373868" y="489585"/>
            <a:ext cx="3322267" cy="819885"/>
          </a:xfrm>
          <a:custGeom>
            <a:avLst/>
            <a:gdLst/>
            <a:ahLst/>
            <a:cxnLst/>
            <a:rect l="l" t="t" r="r" b="b"/>
            <a:pathLst>
              <a:path w="3322267" h="819885">
                <a:moveTo>
                  <a:pt x="0" y="0"/>
                </a:moveTo>
                <a:lnTo>
                  <a:pt x="3322268" y="0"/>
                </a:lnTo>
                <a:lnTo>
                  <a:pt x="3322268" y="819885"/>
                </a:lnTo>
                <a:lnTo>
                  <a:pt x="0" y="819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8698" r="869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-1966771" y="9587997"/>
            <a:ext cx="22586340" cy="910329"/>
            <a:chOff x="0" y="0"/>
            <a:chExt cx="30115120" cy="12137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115157" cy="1213810"/>
            </a:xfrm>
            <a:custGeom>
              <a:avLst/>
              <a:gdLst/>
              <a:ahLst/>
              <a:cxnLst/>
              <a:rect l="l" t="t" r="r" b="b"/>
              <a:pathLst>
                <a:path w="30115157" h="1213810">
                  <a:moveTo>
                    <a:pt x="0" y="0"/>
                  </a:moveTo>
                  <a:lnTo>
                    <a:pt x="30115157" y="0"/>
                  </a:lnTo>
                  <a:lnTo>
                    <a:pt x="30115157" y="1213810"/>
                  </a:lnTo>
                  <a:lnTo>
                    <a:pt x="0" y="1213810"/>
                  </a:lnTo>
                  <a:close/>
                </a:path>
              </a:pathLst>
            </a:custGeom>
            <a:solidFill>
              <a:srgbClr val="1A1E24"/>
            </a:solidFill>
            <a:ln w="25400" cap="sq">
              <a:solidFill>
                <a:srgbClr val="1A1E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9195458" y="-443150"/>
            <a:ext cx="49910" cy="20012384"/>
            <a:chOff x="0" y="0"/>
            <a:chExt cx="34292" cy="137498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330" cy="13749910"/>
            </a:xfrm>
            <a:custGeom>
              <a:avLst/>
              <a:gdLst/>
              <a:ahLst/>
              <a:cxnLst/>
              <a:rect l="l" t="t" r="r" b="b"/>
              <a:pathLst>
                <a:path w="34330" h="13749910">
                  <a:moveTo>
                    <a:pt x="0" y="0"/>
                  </a:moveTo>
                  <a:lnTo>
                    <a:pt x="34330" y="0"/>
                  </a:lnTo>
                  <a:lnTo>
                    <a:pt x="34330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8AC833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31520" y="9654672"/>
            <a:ext cx="16824960" cy="585216"/>
            <a:chOff x="0" y="0"/>
            <a:chExt cx="22433280" cy="780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433280" cy="780288"/>
            </a:xfrm>
            <a:custGeom>
              <a:avLst/>
              <a:gdLst/>
              <a:ahLst/>
              <a:cxnLst/>
              <a:rect l="l" t="t" r="r" b="b"/>
              <a:pathLst>
                <a:path w="22433280" h="780288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0194" b="-5101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2433280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 spc="463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LIFETIME CUSTOMER VALUE   •   ZERO CHARGEBACKS   •   FLEXIBLE REINSURANCE</a:t>
              </a:r>
            </a:p>
          </p:txBody>
        </p:sp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848" y="1763538"/>
            <a:ext cx="3938670" cy="689762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5107" y="2523289"/>
            <a:ext cx="5500070" cy="6598288"/>
          </a:xfrm>
          <a:prstGeom prst="rect">
            <a:avLst/>
          </a:prstGeom>
        </p:spPr>
      </p:pic>
      <p:sp>
        <p:nvSpPr>
          <p:cNvPr id="19" name="Freeform 19"/>
          <p:cNvSpPr/>
          <p:nvPr/>
        </p:nvSpPr>
        <p:spPr>
          <a:xfrm>
            <a:off x="8687273" y="6393732"/>
            <a:ext cx="4347793" cy="4336924"/>
          </a:xfrm>
          <a:custGeom>
            <a:avLst/>
            <a:gdLst/>
            <a:ahLst/>
            <a:cxnLst/>
            <a:rect l="l" t="t" r="r" b="b"/>
            <a:pathLst>
              <a:path w="4347793" h="4336924">
                <a:moveTo>
                  <a:pt x="0" y="0"/>
                </a:moveTo>
                <a:lnTo>
                  <a:pt x="4347793" y="0"/>
                </a:lnTo>
                <a:lnTo>
                  <a:pt x="4347793" y="4336924"/>
                </a:lnTo>
                <a:lnTo>
                  <a:pt x="0" y="43369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731520" y="885825"/>
            <a:ext cx="10262999" cy="927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1" dirty="0">
                <a:solidFill>
                  <a:srgbClr val="8AC833"/>
                </a:solidFill>
                <a:latin typeface="Arial Bold"/>
                <a:ea typeface="Arial Bold"/>
                <a:cs typeface="Arial Bold"/>
                <a:sym typeface="Arial Bold"/>
              </a:rPr>
              <a:t>Retail Preload - Cost</a:t>
            </a:r>
          </a:p>
        </p:txBody>
      </p:sp>
      <p:sp>
        <p:nvSpPr>
          <p:cNvPr id="21" name="Freeform 21"/>
          <p:cNvSpPr/>
          <p:nvPr/>
        </p:nvSpPr>
        <p:spPr>
          <a:xfrm rot="462537">
            <a:off x="8819055" y="6756447"/>
            <a:ext cx="4008028" cy="3998008"/>
          </a:xfrm>
          <a:custGeom>
            <a:avLst/>
            <a:gdLst/>
            <a:ahLst/>
            <a:cxnLst/>
            <a:rect l="l" t="t" r="r" b="b"/>
            <a:pathLst>
              <a:path w="4008028" h="3998008">
                <a:moveTo>
                  <a:pt x="0" y="0"/>
                </a:moveTo>
                <a:lnTo>
                  <a:pt x="4008028" y="0"/>
                </a:lnTo>
                <a:lnTo>
                  <a:pt x="4008028" y="3998008"/>
                </a:lnTo>
                <a:lnTo>
                  <a:pt x="0" y="399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">
            <a:extLst>
              <a:ext uri="{FF2B5EF4-FFF2-40B4-BE49-F238E27FC236}">
                <a16:creationId xmlns:a16="http://schemas.microsoft.com/office/drawing/2014/main" id="{68703E93-4B0F-8626-1AF4-ADF2EEC9CBD0}"/>
              </a:ext>
            </a:extLst>
          </p:cNvPr>
          <p:cNvGrpSpPr/>
          <p:nvPr/>
        </p:nvGrpSpPr>
        <p:grpSpPr>
          <a:xfrm>
            <a:off x="731520" y="4289432"/>
            <a:ext cx="848363" cy="848363"/>
            <a:chOff x="0" y="0"/>
            <a:chExt cx="1131151" cy="1131151"/>
          </a:xfrm>
        </p:grpSpPr>
        <p:sp>
          <p:nvSpPr>
            <p:cNvPr id="25" name="Freeform 3">
              <a:extLst>
                <a:ext uri="{FF2B5EF4-FFF2-40B4-BE49-F238E27FC236}">
                  <a16:creationId xmlns:a16="http://schemas.microsoft.com/office/drawing/2014/main" id="{3C286A99-B98E-B2AA-979B-BB0D1CE5F3CA}"/>
                </a:ext>
              </a:extLst>
            </p:cNvPr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5" descr="preencoded.png">
            <a:extLst>
              <a:ext uri="{FF2B5EF4-FFF2-40B4-BE49-F238E27FC236}">
                <a16:creationId xmlns:a16="http://schemas.microsoft.com/office/drawing/2014/main" id="{88EDEF01-CF0F-EB1F-694C-20FC180B95B5}"/>
              </a:ext>
            </a:extLst>
          </p:cNvPr>
          <p:cNvSpPr/>
          <p:nvPr/>
        </p:nvSpPr>
        <p:spPr>
          <a:xfrm>
            <a:off x="914400" y="44850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F35A49C-AA43-0CFB-344A-0B23CD3812A7}"/>
              </a:ext>
            </a:extLst>
          </p:cNvPr>
          <p:cNvSpPr txBox="1"/>
          <p:nvPr/>
        </p:nvSpPr>
        <p:spPr>
          <a:xfrm>
            <a:off x="1806155" y="4332405"/>
            <a:ext cx="6881118" cy="8872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Preload agent net cost - $114</a:t>
            </a:r>
          </a:p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($99 device/service/admin fee - $15 reserve</a:t>
            </a:r>
          </a:p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($65 paid upfront, $49 paid at retail delivery)</a:t>
            </a:r>
          </a:p>
        </p:txBody>
      </p:sp>
      <p:grpSp>
        <p:nvGrpSpPr>
          <p:cNvPr id="30" name="Group 2">
            <a:extLst>
              <a:ext uri="{FF2B5EF4-FFF2-40B4-BE49-F238E27FC236}">
                <a16:creationId xmlns:a16="http://schemas.microsoft.com/office/drawing/2014/main" id="{59F70AF0-F8C0-4A50-9691-79FBD18B12BB}"/>
              </a:ext>
            </a:extLst>
          </p:cNvPr>
          <p:cNvGrpSpPr/>
          <p:nvPr/>
        </p:nvGrpSpPr>
        <p:grpSpPr>
          <a:xfrm>
            <a:off x="718494" y="5820808"/>
            <a:ext cx="848363" cy="848363"/>
            <a:chOff x="0" y="0"/>
            <a:chExt cx="1131151" cy="1131151"/>
          </a:xfrm>
        </p:grpSpPr>
        <p:sp>
          <p:nvSpPr>
            <p:cNvPr id="31" name="Freeform 3">
              <a:extLst>
                <a:ext uri="{FF2B5EF4-FFF2-40B4-BE49-F238E27FC236}">
                  <a16:creationId xmlns:a16="http://schemas.microsoft.com/office/drawing/2014/main" id="{5162DDDE-9B45-2683-4159-C165A3C55435}"/>
                </a:ext>
              </a:extLst>
            </p:cNvPr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Freeform 5" descr="preencoded.png">
            <a:extLst>
              <a:ext uri="{FF2B5EF4-FFF2-40B4-BE49-F238E27FC236}">
                <a16:creationId xmlns:a16="http://schemas.microsoft.com/office/drawing/2014/main" id="{8A6085F6-0507-4B28-2689-5459C9BAB7A8}"/>
              </a:ext>
            </a:extLst>
          </p:cNvPr>
          <p:cNvSpPr/>
          <p:nvPr/>
        </p:nvSpPr>
        <p:spPr>
          <a:xfrm>
            <a:off x="914400" y="60168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DBA1445F-B088-164F-86DB-686A9A7CC503}"/>
              </a:ext>
            </a:extLst>
          </p:cNvPr>
          <p:cNvSpPr txBox="1"/>
          <p:nvPr/>
        </p:nvSpPr>
        <p:spPr>
          <a:xfrm>
            <a:off x="1785516" y="5904312"/>
            <a:ext cx="6608278" cy="8872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5 Year upsell agent net cost - $233</a:t>
            </a:r>
          </a:p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($154 device/service/admin fee - $79 reserve</a:t>
            </a:r>
          </a:p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$65 paid upfront - $168 paid at retail delivery</a:t>
            </a:r>
          </a:p>
        </p:txBody>
      </p:sp>
      <p:grpSp>
        <p:nvGrpSpPr>
          <p:cNvPr id="36" name="Group 2">
            <a:extLst>
              <a:ext uri="{FF2B5EF4-FFF2-40B4-BE49-F238E27FC236}">
                <a16:creationId xmlns:a16="http://schemas.microsoft.com/office/drawing/2014/main" id="{5024175C-44E5-7813-0DFA-B0F40F7A1193}"/>
              </a:ext>
            </a:extLst>
          </p:cNvPr>
          <p:cNvGrpSpPr/>
          <p:nvPr/>
        </p:nvGrpSpPr>
        <p:grpSpPr>
          <a:xfrm>
            <a:off x="718494" y="7343137"/>
            <a:ext cx="848363" cy="848363"/>
            <a:chOff x="0" y="0"/>
            <a:chExt cx="1131151" cy="1131151"/>
          </a:xfrm>
        </p:grpSpPr>
        <p:sp>
          <p:nvSpPr>
            <p:cNvPr id="37" name="Freeform 3">
              <a:extLst>
                <a:ext uri="{FF2B5EF4-FFF2-40B4-BE49-F238E27FC236}">
                  <a16:creationId xmlns:a16="http://schemas.microsoft.com/office/drawing/2014/main" id="{A1320464-2BC4-4F49-5411-4E968832EBEA}"/>
                </a:ext>
              </a:extLst>
            </p:cNvPr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9" name="Freeform 5" descr="preencoded.png">
            <a:extLst>
              <a:ext uri="{FF2B5EF4-FFF2-40B4-BE49-F238E27FC236}">
                <a16:creationId xmlns:a16="http://schemas.microsoft.com/office/drawing/2014/main" id="{54C32F46-99ED-FF6D-F3A1-AB6E6D81C546}"/>
              </a:ext>
            </a:extLst>
          </p:cNvPr>
          <p:cNvSpPr/>
          <p:nvPr/>
        </p:nvSpPr>
        <p:spPr>
          <a:xfrm>
            <a:off x="914400" y="7529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1" name="TextBox 8">
            <a:extLst>
              <a:ext uri="{FF2B5EF4-FFF2-40B4-BE49-F238E27FC236}">
                <a16:creationId xmlns:a16="http://schemas.microsoft.com/office/drawing/2014/main" id="{84688C8E-EAC4-E2E6-AF13-3144E7F38662}"/>
              </a:ext>
            </a:extLst>
          </p:cNvPr>
          <p:cNvSpPr txBox="1"/>
          <p:nvPr/>
        </p:nvSpPr>
        <p:spPr>
          <a:xfrm>
            <a:off x="1768443" y="7380405"/>
            <a:ext cx="6608278" cy="8872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Monthly software fee waived at 50 units/month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8823" y="3004823"/>
            <a:ext cx="848363" cy="848363"/>
            <a:chOff x="0" y="0"/>
            <a:chExt cx="1131151" cy="11311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3200400"/>
            <a:ext cx="457200" cy="457200"/>
            <a:chOff x="0" y="0"/>
            <a:chExt cx="609600" cy="6096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28800" y="3054096"/>
            <a:ext cx="8778240" cy="822960"/>
            <a:chOff x="0" y="0"/>
            <a:chExt cx="11704320" cy="10972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04320" cy="1097280"/>
            </a:xfrm>
            <a:custGeom>
              <a:avLst/>
              <a:gdLst/>
              <a:ahLst/>
              <a:cxnLst/>
              <a:rect l="l" t="t" r="r" b="b"/>
              <a:pathLst>
                <a:path w="11704320" h="109728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840" b="-1578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170432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High-margin add-on per vehicle sold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8823" y="4102103"/>
            <a:ext cx="848363" cy="848363"/>
            <a:chOff x="0" y="0"/>
            <a:chExt cx="1131151" cy="11311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4297680"/>
            <a:ext cx="457200" cy="457200"/>
            <a:chOff x="0" y="0"/>
            <a:chExt cx="609600" cy="60960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28800" y="4151376"/>
            <a:ext cx="8778240" cy="822960"/>
            <a:chOff x="0" y="0"/>
            <a:chExt cx="11704320" cy="10972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704320" cy="1097280"/>
            </a:xfrm>
            <a:custGeom>
              <a:avLst/>
              <a:gdLst/>
              <a:ahLst/>
              <a:cxnLst/>
              <a:rect l="l" t="t" r="r" b="b"/>
              <a:pathLst>
                <a:path w="11704320" h="109728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840" b="-1578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170432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Flexible reinsurance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18823" y="5199383"/>
            <a:ext cx="848363" cy="848363"/>
            <a:chOff x="0" y="0"/>
            <a:chExt cx="1131151" cy="11311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5394960"/>
            <a:ext cx="457200" cy="457200"/>
            <a:chOff x="0" y="0"/>
            <a:chExt cx="609600" cy="609600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828800" y="5248656"/>
            <a:ext cx="8778240" cy="822960"/>
            <a:chOff x="0" y="0"/>
            <a:chExt cx="11704320" cy="10972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704320" cy="1097280"/>
            </a:xfrm>
            <a:custGeom>
              <a:avLst/>
              <a:gdLst/>
              <a:ahLst/>
              <a:cxnLst/>
              <a:rect l="l" t="t" r="r" b="b"/>
              <a:pathLst>
                <a:path w="11704320" h="109728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840" b="-1578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170432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Zero chargebacks 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8823" y="6296663"/>
            <a:ext cx="848363" cy="848363"/>
            <a:chOff x="0" y="0"/>
            <a:chExt cx="1131151" cy="11311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4400" y="6492240"/>
            <a:ext cx="457200" cy="457200"/>
            <a:chOff x="0" y="0"/>
            <a:chExt cx="609600" cy="609600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28800" y="6345936"/>
            <a:ext cx="8778240" cy="822960"/>
            <a:chOff x="0" y="0"/>
            <a:chExt cx="11704320" cy="10972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704320" cy="1097280"/>
            </a:xfrm>
            <a:custGeom>
              <a:avLst/>
              <a:gdLst/>
              <a:ahLst/>
              <a:cxnLst/>
              <a:rect l="l" t="t" r="r" b="b"/>
              <a:pathLst>
                <a:path w="11704320" h="109728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840" b="-1578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1170432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Dealer app on every customer's phone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8823" y="7393943"/>
            <a:ext cx="848363" cy="848363"/>
            <a:chOff x="0" y="0"/>
            <a:chExt cx="1131151" cy="113115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14400" y="7589520"/>
            <a:ext cx="457200" cy="457200"/>
            <a:chOff x="0" y="0"/>
            <a:chExt cx="609600" cy="609600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828800" y="7443216"/>
            <a:ext cx="8778240" cy="822960"/>
            <a:chOff x="0" y="0"/>
            <a:chExt cx="11704320" cy="10972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704320" cy="1097280"/>
            </a:xfrm>
            <a:custGeom>
              <a:avLst/>
              <a:gdLst/>
              <a:ahLst/>
              <a:cxnLst/>
              <a:rect l="l" t="t" r="r" b="b"/>
              <a:pathLst>
                <a:path w="11704320" h="109728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840" b="-1578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1170432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Key trackers + vehicle management + rewards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4712969" y="2937253"/>
            <a:ext cx="3317243" cy="5328923"/>
            <a:chOff x="0" y="0"/>
            <a:chExt cx="4422991" cy="710523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423029" cy="7105269"/>
            </a:xfrm>
            <a:custGeom>
              <a:avLst/>
              <a:gdLst/>
              <a:ahLst/>
              <a:cxnLst/>
              <a:rect l="l" t="t" r="r" b="b"/>
              <a:pathLst>
                <a:path w="4423029" h="7105269">
                  <a:moveTo>
                    <a:pt x="0" y="0"/>
                  </a:moveTo>
                  <a:lnTo>
                    <a:pt x="4423029" y="0"/>
                  </a:lnTo>
                  <a:lnTo>
                    <a:pt x="4423029" y="7105269"/>
                  </a:lnTo>
                  <a:lnTo>
                    <a:pt x="0" y="7105269"/>
                  </a:lnTo>
                  <a:close/>
                </a:path>
              </a:pathLst>
            </a:custGeom>
            <a:solidFill>
              <a:srgbClr val="1A1E24"/>
            </a:solidFill>
            <a:ln w="25400" cap="sq">
              <a:solidFill>
                <a:srgbClr val="1A1E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712969" y="2937253"/>
            <a:ext cx="3317243" cy="171707"/>
            <a:chOff x="0" y="0"/>
            <a:chExt cx="4422991" cy="22894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423029" cy="228981"/>
            </a:xfrm>
            <a:custGeom>
              <a:avLst/>
              <a:gdLst/>
              <a:ahLst/>
              <a:cxnLst/>
              <a:rect l="l" t="t" r="r" b="b"/>
              <a:pathLst>
                <a:path w="4423029" h="228981">
                  <a:moveTo>
                    <a:pt x="0" y="0"/>
                  </a:moveTo>
                  <a:lnTo>
                    <a:pt x="4423029" y="0"/>
                  </a:lnTo>
                  <a:lnTo>
                    <a:pt x="4423029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8AC833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4817106" y="3407150"/>
            <a:ext cx="3108960" cy="548640"/>
            <a:chOff x="0" y="0"/>
            <a:chExt cx="4145280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145280" cy="731520"/>
            </a:xfrm>
            <a:custGeom>
              <a:avLst/>
              <a:gdLst/>
              <a:ahLst/>
              <a:cxnLst/>
              <a:rect l="l" t="t" r="r" b="b"/>
              <a:pathLst>
                <a:path w="4145280" h="731520">
                  <a:moveTo>
                    <a:pt x="0" y="0"/>
                  </a:moveTo>
                  <a:lnTo>
                    <a:pt x="4145280" y="0"/>
                  </a:lnTo>
                  <a:lnTo>
                    <a:pt x="414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0415" b="-604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41452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spc="599">
                  <a:solidFill>
                    <a:srgbClr val="8AC8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PROOF POINT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4817106" y="4138670"/>
            <a:ext cx="3108960" cy="1371600"/>
            <a:chOff x="0" y="0"/>
            <a:chExt cx="4145280" cy="1828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145280" cy="1828800"/>
            </a:xfrm>
            <a:custGeom>
              <a:avLst/>
              <a:gdLst/>
              <a:ahLst/>
              <a:cxnLst/>
              <a:rect l="l" t="t" r="r" b="b"/>
              <a:pathLst>
                <a:path w="4145280" h="1828800">
                  <a:moveTo>
                    <a:pt x="0" y="0"/>
                  </a:moveTo>
                  <a:lnTo>
                    <a:pt x="4145280" y="0"/>
                  </a:lnTo>
                  <a:lnTo>
                    <a:pt x="4145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604" r="-66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414528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59"/>
                </a:lnSpc>
              </a:pPr>
              <a:r>
                <a:rPr lang="en-US" sz="6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$308K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817106" y="5601710"/>
            <a:ext cx="3108960" cy="548640"/>
            <a:chOff x="0" y="0"/>
            <a:chExt cx="414528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145280" cy="731520"/>
            </a:xfrm>
            <a:custGeom>
              <a:avLst/>
              <a:gdLst/>
              <a:ahLst/>
              <a:cxnLst/>
              <a:rect l="l" t="t" r="r" b="b"/>
              <a:pathLst>
                <a:path w="4145280" h="731520">
                  <a:moveTo>
                    <a:pt x="0" y="0"/>
                  </a:moveTo>
                  <a:lnTo>
                    <a:pt x="4145280" y="0"/>
                  </a:lnTo>
                  <a:lnTo>
                    <a:pt x="414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0415" b="-604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41452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i="1">
                  <a:solidFill>
                    <a:srgbClr val="8AC833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per month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5261609" y="6320533"/>
            <a:ext cx="2219963" cy="25403"/>
            <a:chOff x="0" y="0"/>
            <a:chExt cx="2959951" cy="3387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959989" cy="33909"/>
            </a:xfrm>
            <a:custGeom>
              <a:avLst/>
              <a:gdLst/>
              <a:ahLst/>
              <a:cxnLst/>
              <a:rect l="l" t="t" r="r" b="b"/>
              <a:pathLst>
                <a:path w="2959989" h="33909">
                  <a:moveTo>
                    <a:pt x="0" y="0"/>
                  </a:moveTo>
                  <a:lnTo>
                    <a:pt x="2959989" y="33909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t="-1650924" r="1" b="-1650812"/>
              </a:stretch>
            </a:blipFill>
            <a:ln w="25400" cap="sq">
              <a:solidFill>
                <a:srgbClr val="C9A22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4817106" y="6607550"/>
            <a:ext cx="3108960" cy="548640"/>
            <a:chOff x="0" y="0"/>
            <a:chExt cx="4145280" cy="7315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145280" cy="731520"/>
            </a:xfrm>
            <a:custGeom>
              <a:avLst/>
              <a:gdLst/>
              <a:ahLst/>
              <a:cxnLst/>
              <a:rect l="l" t="t" r="r" b="b"/>
              <a:pathLst>
                <a:path w="4145280" h="731520">
                  <a:moveTo>
                    <a:pt x="0" y="0"/>
                  </a:moveTo>
                  <a:lnTo>
                    <a:pt x="4145280" y="0"/>
                  </a:lnTo>
                  <a:lnTo>
                    <a:pt x="414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0415" b="-604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41452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Brandon Honda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4817106" y="7156190"/>
            <a:ext cx="3108960" cy="548640"/>
            <a:chOff x="0" y="0"/>
            <a:chExt cx="4145280" cy="7315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145280" cy="731520"/>
            </a:xfrm>
            <a:custGeom>
              <a:avLst/>
              <a:gdLst/>
              <a:ahLst/>
              <a:cxnLst/>
              <a:rect l="l" t="t" r="r" b="b"/>
              <a:pathLst>
                <a:path w="4145280" h="731520">
                  <a:moveTo>
                    <a:pt x="0" y="0"/>
                  </a:moveTo>
                  <a:lnTo>
                    <a:pt x="4145280" y="0"/>
                  </a:lnTo>
                  <a:lnTo>
                    <a:pt x="414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0415" b="-604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9525"/>
              <a:ext cx="414528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i="1">
                  <a:solidFill>
                    <a:srgbClr val="D8D8D8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F&amp;I sell-through</a:t>
              </a:r>
            </a:p>
          </p:txBody>
        </p:sp>
      </p:grpSp>
      <p:sp>
        <p:nvSpPr>
          <p:cNvPr id="58" name="Freeform 58"/>
          <p:cNvSpPr/>
          <p:nvPr/>
        </p:nvSpPr>
        <p:spPr>
          <a:xfrm>
            <a:off x="14373868" y="489585"/>
            <a:ext cx="3322267" cy="819885"/>
          </a:xfrm>
          <a:custGeom>
            <a:avLst/>
            <a:gdLst/>
            <a:ahLst/>
            <a:cxnLst/>
            <a:rect l="l" t="t" r="r" b="b"/>
            <a:pathLst>
              <a:path w="3322267" h="819885">
                <a:moveTo>
                  <a:pt x="0" y="0"/>
                </a:moveTo>
                <a:lnTo>
                  <a:pt x="3322268" y="0"/>
                </a:lnTo>
                <a:lnTo>
                  <a:pt x="3322268" y="819885"/>
                </a:lnTo>
                <a:lnTo>
                  <a:pt x="0" y="8198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8698" r="869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9" name="Group 59"/>
          <p:cNvGrpSpPr/>
          <p:nvPr/>
        </p:nvGrpSpPr>
        <p:grpSpPr>
          <a:xfrm>
            <a:off x="-1966771" y="9587997"/>
            <a:ext cx="22586340" cy="910329"/>
            <a:chOff x="0" y="0"/>
            <a:chExt cx="30115120" cy="121377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0115157" cy="1213810"/>
            </a:xfrm>
            <a:custGeom>
              <a:avLst/>
              <a:gdLst/>
              <a:ahLst/>
              <a:cxnLst/>
              <a:rect l="l" t="t" r="r" b="b"/>
              <a:pathLst>
                <a:path w="30115157" h="1213810">
                  <a:moveTo>
                    <a:pt x="0" y="0"/>
                  </a:moveTo>
                  <a:lnTo>
                    <a:pt x="30115157" y="0"/>
                  </a:lnTo>
                  <a:lnTo>
                    <a:pt x="30115157" y="1213810"/>
                  </a:lnTo>
                  <a:lnTo>
                    <a:pt x="0" y="1213810"/>
                  </a:lnTo>
                  <a:close/>
                </a:path>
              </a:pathLst>
            </a:custGeom>
            <a:solidFill>
              <a:srgbClr val="1A1E24"/>
            </a:solidFill>
            <a:ln w="25400" cap="sq">
              <a:solidFill>
                <a:srgbClr val="1A1E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" name="Group 61"/>
          <p:cNvGrpSpPr/>
          <p:nvPr/>
        </p:nvGrpSpPr>
        <p:grpSpPr>
          <a:xfrm rot="5400000">
            <a:off x="9195458" y="-443150"/>
            <a:ext cx="49910" cy="20012384"/>
            <a:chOff x="0" y="0"/>
            <a:chExt cx="34292" cy="13749871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4330" cy="13749910"/>
            </a:xfrm>
            <a:custGeom>
              <a:avLst/>
              <a:gdLst/>
              <a:ahLst/>
              <a:cxnLst/>
              <a:rect l="l" t="t" r="r" b="b"/>
              <a:pathLst>
                <a:path w="34330" h="13749910">
                  <a:moveTo>
                    <a:pt x="0" y="0"/>
                  </a:moveTo>
                  <a:lnTo>
                    <a:pt x="34330" y="0"/>
                  </a:lnTo>
                  <a:lnTo>
                    <a:pt x="34330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8AC833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31520" y="9654672"/>
            <a:ext cx="16824960" cy="585216"/>
            <a:chOff x="0" y="0"/>
            <a:chExt cx="22433280" cy="78028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2433280" cy="780288"/>
            </a:xfrm>
            <a:custGeom>
              <a:avLst/>
              <a:gdLst/>
              <a:ahLst/>
              <a:cxnLst/>
              <a:rect l="l" t="t" r="r" b="b"/>
              <a:pathLst>
                <a:path w="22433280" h="780288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0194" b="-5101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22433280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 spc="463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LIFETIME CUSTOMER VALUE   •   ZERO CHARGEBACKS   •   FLEXIBLE REINSURANCE</a:t>
              </a:r>
            </a:p>
          </p:txBody>
        </p:sp>
      </p:grpSp>
      <p:pic>
        <p:nvPicPr>
          <p:cNvPr id="66" name="Picture 6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5848" y="1763538"/>
            <a:ext cx="3938670" cy="6897628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15107" y="2523289"/>
            <a:ext cx="5500070" cy="6598288"/>
          </a:xfrm>
          <a:prstGeom prst="rect">
            <a:avLst/>
          </a:prstGeom>
        </p:spPr>
      </p:pic>
      <p:sp>
        <p:nvSpPr>
          <p:cNvPr id="68" name="Freeform 68"/>
          <p:cNvSpPr/>
          <p:nvPr/>
        </p:nvSpPr>
        <p:spPr>
          <a:xfrm>
            <a:off x="8687273" y="6393732"/>
            <a:ext cx="4347793" cy="4336924"/>
          </a:xfrm>
          <a:custGeom>
            <a:avLst/>
            <a:gdLst/>
            <a:ahLst/>
            <a:cxnLst/>
            <a:rect l="l" t="t" r="r" b="b"/>
            <a:pathLst>
              <a:path w="4347793" h="4336924">
                <a:moveTo>
                  <a:pt x="0" y="0"/>
                </a:moveTo>
                <a:lnTo>
                  <a:pt x="4347793" y="0"/>
                </a:lnTo>
                <a:lnTo>
                  <a:pt x="4347793" y="4336924"/>
                </a:lnTo>
                <a:lnTo>
                  <a:pt x="0" y="43369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9" name="TextBox 69"/>
          <p:cNvSpPr txBox="1"/>
          <p:nvPr/>
        </p:nvSpPr>
        <p:spPr>
          <a:xfrm>
            <a:off x="731520" y="885825"/>
            <a:ext cx="1026299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1">
                <a:solidFill>
                  <a:srgbClr val="8AC833"/>
                </a:solidFill>
                <a:latin typeface="Arial Bold"/>
                <a:ea typeface="Arial Bold"/>
                <a:cs typeface="Arial Bold"/>
                <a:sym typeface="Arial Bold"/>
              </a:rPr>
              <a:t>F&amp;I Revenue</a:t>
            </a:r>
          </a:p>
        </p:txBody>
      </p:sp>
      <p:sp>
        <p:nvSpPr>
          <p:cNvPr id="70" name="Freeform 70"/>
          <p:cNvSpPr/>
          <p:nvPr/>
        </p:nvSpPr>
        <p:spPr>
          <a:xfrm rot="462537">
            <a:off x="8819055" y="6756447"/>
            <a:ext cx="4008028" cy="3998008"/>
          </a:xfrm>
          <a:custGeom>
            <a:avLst/>
            <a:gdLst/>
            <a:ahLst/>
            <a:cxnLst/>
            <a:rect l="l" t="t" r="r" b="b"/>
            <a:pathLst>
              <a:path w="4008028" h="3998008">
                <a:moveTo>
                  <a:pt x="0" y="0"/>
                </a:moveTo>
                <a:lnTo>
                  <a:pt x="4008028" y="0"/>
                </a:lnTo>
                <a:lnTo>
                  <a:pt x="4008028" y="3998008"/>
                </a:lnTo>
                <a:lnTo>
                  <a:pt x="0" y="399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550545"/>
            <a:ext cx="16459200" cy="457200"/>
            <a:chOff x="0" y="0"/>
            <a:chExt cx="21945600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609600"/>
            </a:xfrm>
            <a:custGeom>
              <a:avLst/>
              <a:gdLst/>
              <a:ahLst/>
              <a:cxnLst/>
              <a:rect l="l" t="t" r="r" b="b"/>
              <a:pathLst>
                <a:path w="21945600" h="609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1461" b="-65146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799">
                  <a:solidFill>
                    <a:srgbClr val="8AC8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POST-LAUNCH SUPPORT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31520" y="1169670"/>
            <a:ext cx="16824960" cy="120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1">
                <a:solidFill>
                  <a:srgbClr val="1A1E24"/>
                </a:solidFill>
                <a:latin typeface="Arial Bold"/>
                <a:ea typeface="Arial Bold"/>
                <a:cs typeface="Arial Bold"/>
                <a:sym typeface="Arial Bold"/>
              </a:rPr>
              <a:t>4-week hypercare. </a:t>
            </a:r>
            <a:r>
              <a:rPr lang="en-US" sz="5200" b="1" i="1">
                <a:solidFill>
                  <a:srgbClr val="8AC83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Then a partner for life.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21995" y="2825115"/>
            <a:ext cx="5596890" cy="5688330"/>
            <a:chOff x="0" y="0"/>
            <a:chExt cx="7462520" cy="75844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62520" cy="7584440"/>
            </a:xfrm>
            <a:custGeom>
              <a:avLst/>
              <a:gdLst/>
              <a:ahLst/>
              <a:cxnLst/>
              <a:rect l="l" t="t" r="r" b="b"/>
              <a:pathLst>
                <a:path w="7462520" h="7584440">
                  <a:moveTo>
                    <a:pt x="0" y="0"/>
                  </a:moveTo>
                  <a:lnTo>
                    <a:pt x="7462520" y="0"/>
                  </a:lnTo>
                  <a:lnTo>
                    <a:pt x="7462520" y="7584440"/>
                  </a:lnTo>
                  <a:lnTo>
                    <a:pt x="0" y="7584440"/>
                  </a:lnTo>
                  <a:close/>
                </a:path>
              </a:pathLst>
            </a:custGeom>
            <a:solidFill>
              <a:srgbClr val="F7F7F7"/>
            </a:solidFill>
            <a:ln w="19050" cap="sq">
              <a:solidFill>
                <a:srgbClr val="D8D8D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8823" y="2821943"/>
            <a:ext cx="208283" cy="5694683"/>
            <a:chOff x="0" y="0"/>
            <a:chExt cx="277711" cy="75929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7749" cy="7592949"/>
            </a:xfrm>
            <a:custGeom>
              <a:avLst/>
              <a:gdLst/>
              <a:ahLst/>
              <a:cxnLst/>
              <a:rect l="l" t="t" r="r" b="b"/>
              <a:pathLst>
                <a:path w="277749" h="7592949">
                  <a:moveTo>
                    <a:pt x="0" y="0"/>
                  </a:moveTo>
                  <a:lnTo>
                    <a:pt x="277749" y="0"/>
                  </a:lnTo>
                  <a:lnTo>
                    <a:pt x="277749" y="7592949"/>
                  </a:lnTo>
                  <a:lnTo>
                    <a:pt x="0" y="7592949"/>
                  </a:lnTo>
                  <a:close/>
                </a:path>
              </a:pathLst>
            </a:custGeom>
            <a:solidFill>
              <a:srgbClr val="8AC833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88720" y="3200400"/>
            <a:ext cx="822960" cy="822960"/>
            <a:chOff x="0" y="0"/>
            <a:chExt cx="1097280" cy="109728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94560" y="3163824"/>
            <a:ext cx="3931920" cy="914400"/>
            <a:chOff x="0" y="0"/>
            <a:chExt cx="524256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42560" cy="1219200"/>
            </a:xfrm>
            <a:custGeom>
              <a:avLst/>
              <a:gdLst/>
              <a:ahLst/>
              <a:cxnLst/>
              <a:rect l="l" t="t" r="r" b="b"/>
              <a:pathLst>
                <a:path w="5242560" h="1219200">
                  <a:moveTo>
                    <a:pt x="0" y="0"/>
                  </a:moveTo>
                  <a:lnTo>
                    <a:pt x="5242560" y="0"/>
                  </a:lnTo>
                  <a:lnTo>
                    <a:pt x="52425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785" b="-337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524256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1A1E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4-Week Hypercare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88720" y="4196715"/>
            <a:ext cx="493776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1">
                <a:solidFill>
                  <a:srgbClr val="4A4A4A"/>
                </a:solidFill>
                <a:latin typeface="Arial Italics"/>
                <a:ea typeface="Arial Italics"/>
                <a:cs typeface="Arial Italics"/>
                <a:sym typeface="Arial Italics"/>
              </a:rPr>
              <a:t>Intensive dedicated support during the critical adoption phase.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8720" y="5202555"/>
            <a:ext cx="4937760" cy="311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Rapid response to any questions or issues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Proactive check-ins to catch problems early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Additional training sessions as needed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Workflow optimization recommendations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Usage monitoring &amp; adoption coaching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537579" y="2825115"/>
            <a:ext cx="5596890" cy="5688330"/>
            <a:chOff x="0" y="0"/>
            <a:chExt cx="7462520" cy="75844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462520" cy="7584440"/>
            </a:xfrm>
            <a:custGeom>
              <a:avLst/>
              <a:gdLst/>
              <a:ahLst/>
              <a:cxnLst/>
              <a:rect l="l" t="t" r="r" b="b"/>
              <a:pathLst>
                <a:path w="7462520" h="7584440">
                  <a:moveTo>
                    <a:pt x="0" y="0"/>
                  </a:moveTo>
                  <a:lnTo>
                    <a:pt x="7462520" y="0"/>
                  </a:lnTo>
                  <a:lnTo>
                    <a:pt x="7462520" y="7584440"/>
                  </a:lnTo>
                  <a:lnTo>
                    <a:pt x="0" y="7584440"/>
                  </a:lnTo>
                  <a:close/>
                </a:path>
              </a:pathLst>
            </a:custGeom>
            <a:solidFill>
              <a:srgbClr val="F7F7F7"/>
            </a:solidFill>
            <a:ln w="19050" cap="sq">
              <a:solidFill>
                <a:srgbClr val="D8D8D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34407" y="2821943"/>
            <a:ext cx="208283" cy="5694683"/>
            <a:chOff x="0" y="0"/>
            <a:chExt cx="277711" cy="75929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77749" cy="7592949"/>
            </a:xfrm>
            <a:custGeom>
              <a:avLst/>
              <a:gdLst/>
              <a:ahLst/>
              <a:cxnLst/>
              <a:rect l="l" t="t" r="r" b="b"/>
              <a:pathLst>
                <a:path w="277749" h="7592949">
                  <a:moveTo>
                    <a:pt x="0" y="0"/>
                  </a:moveTo>
                  <a:lnTo>
                    <a:pt x="277749" y="0"/>
                  </a:lnTo>
                  <a:lnTo>
                    <a:pt x="277749" y="7592949"/>
                  </a:lnTo>
                  <a:lnTo>
                    <a:pt x="0" y="7592949"/>
                  </a:lnTo>
                  <a:close/>
                </a:path>
              </a:pathLst>
            </a:custGeom>
            <a:solidFill>
              <a:srgbClr val="8AC833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004304" y="3200400"/>
            <a:ext cx="822960" cy="822960"/>
            <a:chOff x="0" y="0"/>
            <a:chExt cx="1097280" cy="1097280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10144" y="3163824"/>
            <a:ext cx="3931920" cy="914400"/>
            <a:chOff x="0" y="0"/>
            <a:chExt cx="524256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242560" cy="1219200"/>
            </a:xfrm>
            <a:custGeom>
              <a:avLst/>
              <a:gdLst/>
              <a:ahLst/>
              <a:cxnLst/>
              <a:rect l="l" t="t" r="r" b="b"/>
              <a:pathLst>
                <a:path w="5242560" h="1219200">
                  <a:moveTo>
                    <a:pt x="0" y="0"/>
                  </a:moveTo>
                  <a:lnTo>
                    <a:pt x="5242560" y="0"/>
                  </a:lnTo>
                  <a:lnTo>
                    <a:pt x="52425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785" b="-337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524256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1A1E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Performance Program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004304" y="4196715"/>
            <a:ext cx="493776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1">
                <a:solidFill>
                  <a:srgbClr val="4A4A4A"/>
                </a:solidFill>
                <a:latin typeface="Arial Italics"/>
                <a:ea typeface="Arial Italics"/>
                <a:cs typeface="Arial Italics"/>
                <a:sym typeface="Arial Italics"/>
              </a:rPr>
              <a:t>Ongoing partnership with a dedicated Customer Success Manager.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04304" y="5202555"/>
            <a:ext cx="4937760" cy="311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Dedicated CSM consultations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KPI reporting &amp; analytics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Continuous optimization reviews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Pairing coverage tracking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System utilization &amp; sell-through reporting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2353163" y="2825115"/>
            <a:ext cx="5596890" cy="5688330"/>
            <a:chOff x="0" y="0"/>
            <a:chExt cx="7462520" cy="75844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462520" cy="7584440"/>
            </a:xfrm>
            <a:custGeom>
              <a:avLst/>
              <a:gdLst/>
              <a:ahLst/>
              <a:cxnLst/>
              <a:rect l="l" t="t" r="r" b="b"/>
              <a:pathLst>
                <a:path w="7462520" h="7584440">
                  <a:moveTo>
                    <a:pt x="0" y="0"/>
                  </a:moveTo>
                  <a:lnTo>
                    <a:pt x="7462520" y="0"/>
                  </a:lnTo>
                  <a:lnTo>
                    <a:pt x="7462520" y="7584440"/>
                  </a:lnTo>
                  <a:lnTo>
                    <a:pt x="0" y="7584440"/>
                  </a:lnTo>
                  <a:close/>
                </a:path>
              </a:pathLst>
            </a:custGeom>
            <a:solidFill>
              <a:srgbClr val="F7F7F7"/>
            </a:solidFill>
            <a:ln w="19050" cap="sq">
              <a:solidFill>
                <a:srgbClr val="D8D8D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349991" y="2821943"/>
            <a:ext cx="208283" cy="5694683"/>
            <a:chOff x="0" y="0"/>
            <a:chExt cx="277711" cy="759291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77749" cy="7592949"/>
            </a:xfrm>
            <a:custGeom>
              <a:avLst/>
              <a:gdLst/>
              <a:ahLst/>
              <a:cxnLst/>
              <a:rect l="l" t="t" r="r" b="b"/>
              <a:pathLst>
                <a:path w="277749" h="7592949">
                  <a:moveTo>
                    <a:pt x="0" y="0"/>
                  </a:moveTo>
                  <a:lnTo>
                    <a:pt x="277749" y="0"/>
                  </a:lnTo>
                  <a:lnTo>
                    <a:pt x="277749" y="7592949"/>
                  </a:lnTo>
                  <a:lnTo>
                    <a:pt x="0" y="7592949"/>
                  </a:lnTo>
                  <a:close/>
                </a:path>
              </a:pathLst>
            </a:custGeom>
            <a:solidFill>
              <a:srgbClr val="8AC833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819888" y="3200400"/>
            <a:ext cx="822960" cy="822960"/>
            <a:chOff x="0" y="0"/>
            <a:chExt cx="1097280" cy="1097280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825728" y="3163824"/>
            <a:ext cx="3931920" cy="914400"/>
            <a:chOff x="0" y="0"/>
            <a:chExt cx="5242560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242560" cy="1219200"/>
            </a:xfrm>
            <a:custGeom>
              <a:avLst/>
              <a:gdLst/>
              <a:ahLst/>
              <a:cxnLst/>
              <a:rect l="l" t="t" r="r" b="b"/>
              <a:pathLst>
                <a:path w="5242560" h="1219200">
                  <a:moveTo>
                    <a:pt x="0" y="0"/>
                  </a:moveTo>
                  <a:lnTo>
                    <a:pt x="5242560" y="0"/>
                  </a:lnTo>
                  <a:lnTo>
                    <a:pt x="52425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785" b="-337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524256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1A1E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90-Day Money-Back Guarantee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2819888" y="4196715"/>
            <a:ext cx="493776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1">
                <a:solidFill>
                  <a:srgbClr val="4A4A4A"/>
                </a:solidFill>
                <a:latin typeface="Arial Italics"/>
                <a:ea typeface="Arial Italics"/>
                <a:cs typeface="Arial Italics"/>
                <a:sym typeface="Arial Italics"/>
              </a:rPr>
              <a:t>Confident MDD delivers measurable results.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819888" y="5202555"/>
            <a:ext cx="4937760" cy="311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No long-term risk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No complicated terms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If it doesn't work, we make it right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MDD-backed assurance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A1E24"/>
                </a:solidFill>
                <a:latin typeface="Arial"/>
                <a:ea typeface="Arial"/>
                <a:cs typeface="Arial"/>
                <a:sym typeface="Arial"/>
              </a:rPr>
              <a:t>Built on 10+ years of dealer trust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31520" y="9011926"/>
            <a:ext cx="16824960" cy="402336"/>
            <a:chOff x="0" y="0"/>
            <a:chExt cx="22433280" cy="53644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433280" cy="536448"/>
            </a:xfrm>
            <a:custGeom>
              <a:avLst/>
              <a:gdLst/>
              <a:ahLst/>
              <a:cxnLst/>
              <a:rect l="l" t="t" r="r" b="b"/>
              <a:pathLst>
                <a:path w="22433280" h="536448">
                  <a:moveTo>
                    <a:pt x="0" y="0"/>
                  </a:moveTo>
                  <a:lnTo>
                    <a:pt x="22433280" y="0"/>
                  </a:lnTo>
                  <a:lnTo>
                    <a:pt x="22433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4828" b="-7648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22433280" cy="555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i="1">
                  <a:solidFill>
                    <a:srgbClr val="4A4A4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We don't just install and leave. We're invested in your long-term success.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-1966771" y="9587997"/>
            <a:ext cx="22586340" cy="910329"/>
            <a:chOff x="0" y="0"/>
            <a:chExt cx="30115120" cy="121377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0115157" cy="1213810"/>
            </a:xfrm>
            <a:custGeom>
              <a:avLst/>
              <a:gdLst/>
              <a:ahLst/>
              <a:cxnLst/>
              <a:rect l="l" t="t" r="r" b="b"/>
              <a:pathLst>
                <a:path w="30115157" h="1213810">
                  <a:moveTo>
                    <a:pt x="0" y="0"/>
                  </a:moveTo>
                  <a:lnTo>
                    <a:pt x="30115157" y="0"/>
                  </a:lnTo>
                  <a:lnTo>
                    <a:pt x="30115157" y="1213810"/>
                  </a:lnTo>
                  <a:lnTo>
                    <a:pt x="0" y="1213810"/>
                  </a:lnTo>
                  <a:close/>
                </a:path>
              </a:pathLst>
            </a:custGeom>
            <a:solidFill>
              <a:srgbClr val="1A1E24"/>
            </a:solidFill>
            <a:ln w="25400" cap="sq">
              <a:solidFill>
                <a:srgbClr val="1A1E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 rot="5400000">
            <a:off x="9195458" y="-443150"/>
            <a:ext cx="49910" cy="20012384"/>
            <a:chOff x="0" y="0"/>
            <a:chExt cx="34292" cy="1374987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4330" cy="13749910"/>
            </a:xfrm>
            <a:custGeom>
              <a:avLst/>
              <a:gdLst/>
              <a:ahLst/>
              <a:cxnLst/>
              <a:rect l="l" t="t" r="r" b="b"/>
              <a:pathLst>
                <a:path w="34330" h="13749910">
                  <a:moveTo>
                    <a:pt x="0" y="0"/>
                  </a:moveTo>
                  <a:lnTo>
                    <a:pt x="34330" y="0"/>
                  </a:lnTo>
                  <a:lnTo>
                    <a:pt x="34330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8AC833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-219878" y="9626097"/>
            <a:ext cx="18727757" cy="563457"/>
            <a:chOff x="0" y="0"/>
            <a:chExt cx="25934609" cy="78028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5934609" cy="780288"/>
            </a:xfrm>
            <a:custGeom>
              <a:avLst/>
              <a:gdLst/>
              <a:ahLst/>
              <a:cxnLst/>
              <a:rect l="l" t="t" r="r" b="b"/>
              <a:pathLst>
                <a:path w="25934609" h="780288">
                  <a:moveTo>
                    <a:pt x="0" y="0"/>
                  </a:moveTo>
                  <a:lnTo>
                    <a:pt x="25934609" y="0"/>
                  </a:lnTo>
                  <a:lnTo>
                    <a:pt x="2593460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0194" r="13500" b="-5101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25934609" cy="7898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 spc="42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1-DAY INSTALL  →  HYPERCARE  →  DEDICATED CSM  →  KPI REPORTING  →  90-DAY GUARANTEE</a:t>
              </a:r>
            </a:p>
          </p:txBody>
        </p:sp>
      </p:grpSp>
      <p:sp>
        <p:nvSpPr>
          <p:cNvPr id="49" name="Freeform 49"/>
          <p:cNvSpPr/>
          <p:nvPr/>
        </p:nvSpPr>
        <p:spPr>
          <a:xfrm>
            <a:off x="14373868" y="489585"/>
            <a:ext cx="3322267" cy="819885"/>
          </a:xfrm>
          <a:custGeom>
            <a:avLst/>
            <a:gdLst/>
            <a:ahLst/>
            <a:cxnLst/>
            <a:rect l="l" t="t" r="r" b="b"/>
            <a:pathLst>
              <a:path w="3322267" h="819885">
                <a:moveTo>
                  <a:pt x="0" y="0"/>
                </a:moveTo>
                <a:lnTo>
                  <a:pt x="3322268" y="0"/>
                </a:lnTo>
                <a:lnTo>
                  <a:pt x="3322268" y="819885"/>
                </a:lnTo>
                <a:lnTo>
                  <a:pt x="0" y="8198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8698" r="869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94" t="-15272" r="-5610" b="-270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2697" y="9319074"/>
            <a:ext cx="18313403" cy="1031243"/>
            <a:chOff x="0" y="0"/>
            <a:chExt cx="24417871" cy="13749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17910" cy="1375029"/>
            </a:xfrm>
            <a:custGeom>
              <a:avLst/>
              <a:gdLst/>
              <a:ahLst/>
              <a:cxnLst/>
              <a:rect l="l" t="t" r="r" b="b"/>
              <a:pathLst>
                <a:path w="24417910" h="1375029">
                  <a:moveTo>
                    <a:pt x="0" y="0"/>
                  </a:moveTo>
                  <a:lnTo>
                    <a:pt x="24417910" y="0"/>
                  </a:lnTo>
                  <a:lnTo>
                    <a:pt x="24417910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0A0A0A"/>
            </a:solidFill>
            <a:ln w="25400" cap="sq">
              <a:solidFill>
                <a:srgbClr val="0A0A0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" y="9514656"/>
            <a:ext cx="16459200" cy="640080"/>
            <a:chOff x="0" y="0"/>
            <a:chExt cx="21945600" cy="853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4560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mdd.io   |   844-292-7110   |   We Find Keys &amp; Cars™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6585996" y="2012973"/>
            <a:ext cx="5116008" cy="1299608"/>
          </a:xfrm>
          <a:custGeom>
            <a:avLst/>
            <a:gdLst/>
            <a:ahLst/>
            <a:cxnLst/>
            <a:rect l="l" t="t" r="r" b="b"/>
            <a:pathLst>
              <a:path w="5116008" h="1299608">
                <a:moveTo>
                  <a:pt x="0" y="0"/>
                </a:moveTo>
                <a:lnTo>
                  <a:pt x="5116008" y="0"/>
                </a:lnTo>
                <a:lnTo>
                  <a:pt x="5116008" y="1299608"/>
                </a:lnTo>
                <a:lnTo>
                  <a:pt x="0" y="1299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7486" r="748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 rot="5400000">
            <a:off x="9195458" y="-654476"/>
            <a:ext cx="49910" cy="20012384"/>
            <a:chOff x="0" y="0"/>
            <a:chExt cx="34292" cy="137498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330" cy="13749910"/>
            </a:xfrm>
            <a:custGeom>
              <a:avLst/>
              <a:gdLst/>
              <a:ahLst/>
              <a:cxnLst/>
              <a:rect l="l" t="t" r="r" b="b"/>
              <a:pathLst>
                <a:path w="34330" h="13749910">
                  <a:moveTo>
                    <a:pt x="0" y="0"/>
                  </a:moveTo>
                  <a:lnTo>
                    <a:pt x="34330" y="0"/>
                  </a:lnTo>
                  <a:lnTo>
                    <a:pt x="34330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8AC833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3120" y="8577809"/>
            <a:ext cx="5446976" cy="607916"/>
            <a:chOff x="0" y="0"/>
            <a:chExt cx="7262634" cy="810554"/>
          </a:xfrm>
        </p:grpSpPr>
        <p:sp>
          <p:nvSpPr>
            <p:cNvPr id="12" name="Freeform 12"/>
            <p:cNvSpPr/>
            <p:nvPr/>
          </p:nvSpPr>
          <p:spPr>
            <a:xfrm>
              <a:off x="0" y="339251"/>
              <a:ext cx="2356516" cy="471303"/>
            </a:xfrm>
            <a:custGeom>
              <a:avLst/>
              <a:gdLst/>
              <a:ahLst/>
              <a:cxnLst/>
              <a:rect l="l" t="t" r="r" b="b"/>
              <a:pathLst>
                <a:path w="2356516" h="471303">
                  <a:moveTo>
                    <a:pt x="0" y="0"/>
                  </a:moveTo>
                  <a:lnTo>
                    <a:pt x="2356516" y="0"/>
                  </a:lnTo>
                  <a:lnTo>
                    <a:pt x="2356516" y="471303"/>
                  </a:lnTo>
                  <a:lnTo>
                    <a:pt x="0" y="471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16528" r="165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7262634" cy="3069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30"/>
                </a:lnSpc>
              </a:pPr>
              <a:r>
                <a:rPr lang="en-US" sz="1450" b="1" i="1" spc="44">
                  <a:solidFill>
                    <a:srgbClr val="FFFFFF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Powered by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04875" y="5839530"/>
            <a:ext cx="16459200" cy="548640"/>
            <a:chOff x="0" y="0"/>
            <a:chExt cx="21945600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i="1">
                  <a:solidFill>
                    <a:srgbClr val="F59E0B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Longo Toyota   •   Bill Brown Ford   •   Lithia Automotive   •   Morgan Automotive   •   Penske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1482" y="6891597"/>
            <a:ext cx="3995761" cy="1663137"/>
            <a:chOff x="0" y="0"/>
            <a:chExt cx="6129871" cy="255140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129909" cy="2551445"/>
            </a:xfrm>
            <a:custGeom>
              <a:avLst/>
              <a:gdLst/>
              <a:ahLst/>
              <a:cxnLst/>
              <a:rect l="l" t="t" r="r" b="b"/>
              <a:pathLst>
                <a:path w="6129909" h="2551445">
                  <a:moveTo>
                    <a:pt x="0" y="0"/>
                  </a:moveTo>
                  <a:lnTo>
                    <a:pt x="6129909" y="0"/>
                  </a:lnTo>
                  <a:lnTo>
                    <a:pt x="6129909" y="2551445"/>
                  </a:lnTo>
                  <a:lnTo>
                    <a:pt x="0" y="2551445"/>
                  </a:ln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746242" y="6891597"/>
            <a:ext cx="4206240" cy="1097280"/>
            <a:chOff x="0" y="0"/>
            <a:chExt cx="5608320" cy="14630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608320" cy="1463040"/>
            </a:xfrm>
            <a:custGeom>
              <a:avLst/>
              <a:gdLst/>
              <a:ahLst/>
              <a:cxnLst/>
              <a:rect l="l" t="t" r="r" b="b"/>
              <a:pathLst>
                <a:path w="5608320" h="1463040">
                  <a:moveTo>
                    <a:pt x="0" y="0"/>
                  </a:moveTo>
                  <a:lnTo>
                    <a:pt x="5608320" y="0"/>
                  </a:lnTo>
                  <a:lnTo>
                    <a:pt x="560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692" b="-246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60832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45 min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22532" y="6891597"/>
            <a:ext cx="3995761" cy="1663137"/>
            <a:chOff x="0" y="0"/>
            <a:chExt cx="6129871" cy="255140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129909" cy="2551445"/>
            </a:xfrm>
            <a:custGeom>
              <a:avLst/>
              <a:gdLst/>
              <a:ahLst/>
              <a:cxnLst/>
              <a:rect l="l" t="t" r="r" b="b"/>
              <a:pathLst>
                <a:path w="6129909" h="2551445">
                  <a:moveTo>
                    <a:pt x="0" y="0"/>
                  </a:moveTo>
                  <a:lnTo>
                    <a:pt x="6129909" y="0"/>
                  </a:lnTo>
                  <a:lnTo>
                    <a:pt x="6129909" y="2551445"/>
                  </a:lnTo>
                  <a:lnTo>
                    <a:pt x="0" y="2551445"/>
                  </a:ln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193706" y="6891597"/>
            <a:ext cx="4206240" cy="1097280"/>
            <a:chOff x="0" y="0"/>
            <a:chExt cx="5608320" cy="14630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608320" cy="1463040"/>
            </a:xfrm>
            <a:custGeom>
              <a:avLst/>
              <a:gdLst/>
              <a:ahLst/>
              <a:cxnLst/>
              <a:rect l="l" t="t" r="r" b="b"/>
              <a:pathLst>
                <a:path w="5608320" h="1463040">
                  <a:moveTo>
                    <a:pt x="0" y="0"/>
                  </a:moveTo>
                  <a:lnTo>
                    <a:pt x="5608320" y="0"/>
                  </a:lnTo>
                  <a:lnTo>
                    <a:pt x="560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692" b="-246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560832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$308K/mo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593583" y="6891597"/>
            <a:ext cx="3995761" cy="1663137"/>
            <a:chOff x="0" y="0"/>
            <a:chExt cx="6129871" cy="255140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129909" cy="2551445"/>
            </a:xfrm>
            <a:custGeom>
              <a:avLst/>
              <a:gdLst/>
              <a:ahLst/>
              <a:cxnLst/>
              <a:rect l="l" t="t" r="r" b="b"/>
              <a:pathLst>
                <a:path w="6129909" h="2551445">
                  <a:moveTo>
                    <a:pt x="0" y="0"/>
                  </a:moveTo>
                  <a:lnTo>
                    <a:pt x="6129909" y="0"/>
                  </a:lnTo>
                  <a:lnTo>
                    <a:pt x="6129909" y="2551445"/>
                  </a:lnTo>
                  <a:lnTo>
                    <a:pt x="0" y="2551445"/>
                  </a:ln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488344" y="6891597"/>
            <a:ext cx="4206240" cy="1097280"/>
            <a:chOff x="0" y="0"/>
            <a:chExt cx="5608320" cy="14630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608320" cy="1463040"/>
            </a:xfrm>
            <a:custGeom>
              <a:avLst/>
              <a:gdLst/>
              <a:ahLst/>
              <a:cxnLst/>
              <a:rect l="l" t="t" r="r" b="b"/>
              <a:pathLst>
                <a:path w="5608320" h="1463040">
                  <a:moveTo>
                    <a:pt x="0" y="0"/>
                  </a:moveTo>
                  <a:lnTo>
                    <a:pt x="5608320" y="0"/>
                  </a:lnTo>
                  <a:lnTo>
                    <a:pt x="560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692" b="-246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560832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15 min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851482" y="8515202"/>
            <a:ext cx="3995761" cy="128801"/>
            <a:chOff x="0" y="0"/>
            <a:chExt cx="1052382" cy="3392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52382" cy="33923"/>
            </a:xfrm>
            <a:custGeom>
              <a:avLst/>
              <a:gdLst/>
              <a:ahLst/>
              <a:cxnLst/>
              <a:rect l="l" t="t" r="r" b="b"/>
              <a:pathLst>
                <a:path w="1052382" h="33923">
                  <a:moveTo>
                    <a:pt x="0" y="0"/>
                  </a:moveTo>
                  <a:lnTo>
                    <a:pt x="1052382" y="0"/>
                  </a:lnTo>
                  <a:lnTo>
                    <a:pt x="1052382" y="33923"/>
                  </a:lnTo>
                  <a:lnTo>
                    <a:pt x="0" y="33923"/>
                  </a:lnTo>
                  <a:close/>
                </a:path>
              </a:pathLst>
            </a:custGeom>
            <a:solidFill>
              <a:srgbClr val="8AC8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1052382" cy="52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3886521" y="3580969"/>
            <a:ext cx="10514959" cy="181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8"/>
              </a:lnSpc>
            </a:pPr>
            <a:r>
              <a:rPr lang="en-US" sz="5906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world’s best dealerships </a:t>
            </a:r>
            <a:r>
              <a:rPr lang="en-US" sz="5906" b="1" i="1">
                <a:solidFill>
                  <a:srgbClr val="8AC83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already chose us.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746242" y="7969827"/>
            <a:ext cx="420624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i="1">
                <a:solidFill>
                  <a:srgbClr val="F59E0B"/>
                </a:solidFill>
                <a:latin typeface="Arial Italics"/>
                <a:ea typeface="Arial Italics"/>
                <a:cs typeface="Arial Italics"/>
                <a:sym typeface="Arial Italics"/>
              </a:rPr>
              <a:t>saved per sale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193706" y="7969827"/>
            <a:ext cx="420624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i="1">
                <a:solidFill>
                  <a:srgbClr val="F59E0B"/>
                </a:solidFill>
                <a:latin typeface="Arial Italics"/>
                <a:ea typeface="Arial Italics"/>
                <a:cs typeface="Arial Italics"/>
                <a:sym typeface="Arial Italics"/>
              </a:rPr>
              <a:t>F&amp;I revenue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88344" y="7969827"/>
            <a:ext cx="420624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i="1">
                <a:solidFill>
                  <a:srgbClr val="F59E0B"/>
                </a:solidFill>
                <a:latin typeface="Arial Italics"/>
                <a:ea typeface="Arial Italics"/>
                <a:cs typeface="Arial Italics"/>
                <a:sym typeface="Arial Italics"/>
              </a:rPr>
              <a:t>per repair order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222532" y="8490333"/>
            <a:ext cx="3995761" cy="128801"/>
            <a:chOff x="0" y="0"/>
            <a:chExt cx="1052382" cy="3392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52382" cy="33923"/>
            </a:xfrm>
            <a:custGeom>
              <a:avLst/>
              <a:gdLst/>
              <a:ahLst/>
              <a:cxnLst/>
              <a:rect l="l" t="t" r="r" b="b"/>
              <a:pathLst>
                <a:path w="1052382" h="33923">
                  <a:moveTo>
                    <a:pt x="0" y="0"/>
                  </a:moveTo>
                  <a:lnTo>
                    <a:pt x="1052382" y="0"/>
                  </a:lnTo>
                  <a:lnTo>
                    <a:pt x="1052382" y="33923"/>
                  </a:lnTo>
                  <a:lnTo>
                    <a:pt x="0" y="33923"/>
                  </a:lnTo>
                  <a:close/>
                </a:path>
              </a:pathLst>
            </a:custGeom>
            <a:solidFill>
              <a:srgbClr val="8AC8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1052382" cy="52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593583" y="8490333"/>
            <a:ext cx="3995761" cy="128801"/>
            <a:chOff x="0" y="0"/>
            <a:chExt cx="1052382" cy="3392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52382" cy="33923"/>
            </a:xfrm>
            <a:custGeom>
              <a:avLst/>
              <a:gdLst/>
              <a:ahLst/>
              <a:cxnLst/>
              <a:rect l="l" t="t" r="r" b="b"/>
              <a:pathLst>
                <a:path w="1052382" h="33923">
                  <a:moveTo>
                    <a:pt x="0" y="0"/>
                  </a:moveTo>
                  <a:lnTo>
                    <a:pt x="1052382" y="0"/>
                  </a:lnTo>
                  <a:lnTo>
                    <a:pt x="1052382" y="33923"/>
                  </a:lnTo>
                  <a:lnTo>
                    <a:pt x="0" y="33923"/>
                  </a:lnTo>
                  <a:close/>
                </a:path>
              </a:pathLst>
            </a:custGeom>
            <a:solidFill>
              <a:srgbClr val="8AC8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1052382" cy="52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5575</TotalTime>
  <Words>675</Words>
  <Application>Microsoft Macintosh PowerPoint</Application>
  <PresentationFormat>Custom</PresentationFormat>
  <Paragraphs>141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Arial</vt:lpstr>
      <vt:lpstr>Arial Bold Italics</vt:lpstr>
      <vt:lpstr>Arial Italics</vt:lpstr>
      <vt:lpstr>Montserrat Bold Italics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WiseTRAK_0626.pptx</dc:title>
  <dc:creator>Connelly, Mike</dc:creator>
  <cp:lastModifiedBy>Colin McElhatton</cp:lastModifiedBy>
  <cp:revision>10</cp:revision>
  <dcterms:created xsi:type="dcterms:W3CDTF">2006-08-16T00:00:00Z</dcterms:created>
  <dcterms:modified xsi:type="dcterms:W3CDTF">2026-07-15T16:56:31Z</dcterms:modified>
  <dc:identifier>DAHMSvehytM</dc:identifier>
</cp:coreProperties>
</file>