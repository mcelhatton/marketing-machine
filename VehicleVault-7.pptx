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100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457200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2960" y="749886"/>
            <a:ext cx="4206240" cy="10605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103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F1E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Revolutionizing Lot Management</a:t>
            </a: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640080" y="288036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8AC833">
              <a:alpha val="20000"/>
            </a:srgbClr>
          </a:solidFill>
          <a:ln w="12700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640080" y="28803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Tracking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2331720" y="288036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8AC833">
              <a:alpha val="20000"/>
            </a:srgbClr>
          </a:solidFill>
          <a:ln w="12700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2331720" y="28803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Workflow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023360" y="288036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8AC833">
              <a:alpha val="20000"/>
            </a:srgbClr>
          </a:solidFill>
          <a:ln w="12700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023360" y="28803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F&amp;I Integration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217920" y="320040"/>
            <a:ext cx="2286000" cy="448056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438912"/>
            <a:ext cx="2157984" cy="424281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8AC833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40080" y="4709160"/>
            <a:ext cx="3657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C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mdd.io  |  We Find Keys &amp; Cars™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1463040" cy="292608"/>
          </a:xfrm>
          <a:prstGeom prst="roundRect">
            <a:avLst>
              <a:gd name="adj" fmla="val 25000"/>
            </a:avLst>
          </a:prstGeom>
          <a:solidFill>
            <a:srgbClr val="8AC833">
              <a:alpha val="15000"/>
            </a:srgbClr>
          </a:solidFill>
          <a:ln w="9525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E9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Decade of Innovation in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Automotive Solutions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60320" cy="54864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286000"/>
            <a:ext cx="502920" cy="502920"/>
          </a:xfrm>
          <a:prstGeom prst="ellipse">
            <a:avLst/>
          </a:prstGeom>
          <a:solidFill>
            <a:srgbClr val="EEF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77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Founded on Dealer Needs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3375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ground up with real dealership feedback, Mobile Dealer Data has spent over 10 years solving the industry's most persistent inventory and operational challenges.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29000" y="196596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29000" y="1965960"/>
            <a:ext cx="2560320" cy="54864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703320" y="2286000"/>
            <a:ext cx="502920" cy="502920"/>
          </a:xfrm>
          <a:prstGeom prst="ellipse">
            <a:avLst/>
          </a:prstGeom>
          <a:solidFill>
            <a:srgbClr val="EEF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3774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0332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Trusted by Top Dealers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703320" y="33375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single point dealerships to the largest Publicly Traded groups, our solutions are trusted by hundreds of dealerships nationwide.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96596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17920" y="1965960"/>
            <a:ext cx="2560320" cy="54864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92240" y="2286000"/>
            <a:ext cx="502920" cy="502920"/>
          </a:xfrm>
          <a:prstGeom prst="ellipse">
            <a:avLst/>
          </a:prstGeom>
          <a:solidFill>
            <a:srgbClr val="EEF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3774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92240" y="2926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Continuously Evolving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92240" y="333756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Bluetooth lot tracking to F&amp;I integration and service workflow tools, Vehicle Vault grows alongside the needs of modern dealerships.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657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It Work?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and key is tagged with a Bluetooth tracking device the moment it enters inventory. Dealership staff can instantly pinpoint the location of any vehicle or key directly from their mobile app — eliminating guesswork and saving valuable time.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60120" y="2468880"/>
            <a:ext cx="640080" cy="640080"/>
          </a:xfrm>
          <a:prstGeom prst="ellipse">
            <a:avLst/>
          </a:prstGeom>
          <a:solidFill>
            <a:srgbClr val="8AC83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2578608"/>
            <a:ext cx="420624" cy="420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C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40080" y="3520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Bluetooth tracker to vehicle &amp; key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1828800" y="2788920"/>
            <a:ext cx="411480" cy="0"/>
          </a:xfrm>
          <a:prstGeom prst="line">
            <a:avLst/>
          </a:prstGeom>
          <a:noFill/>
          <a:ln w="25400">
            <a:solidFill>
              <a:srgbClr val="8AC83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606040" y="2468880"/>
            <a:ext cx="640080" cy="640080"/>
          </a:xfrm>
          <a:prstGeom prst="ellipse">
            <a:avLst/>
          </a:prstGeom>
          <a:solidFill>
            <a:srgbClr val="8AC83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768" y="2578608"/>
            <a:ext cx="420624" cy="4206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28600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C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286000" y="3520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 via mobile app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474720" y="2788920"/>
            <a:ext cx="411480" cy="0"/>
          </a:xfrm>
          <a:prstGeom prst="line">
            <a:avLst/>
          </a:prstGeom>
          <a:noFill/>
          <a:ln w="25400">
            <a:solidFill>
              <a:srgbClr val="8AC83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4251960" y="2468880"/>
            <a:ext cx="640080" cy="640080"/>
          </a:xfrm>
          <a:prstGeom prst="ellipse">
            <a:avLst/>
          </a:prstGeom>
          <a:solidFill>
            <a:srgbClr val="8AC83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1688" y="2578608"/>
            <a:ext cx="420624" cy="4206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931920" y="3246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AC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3931920" y="3520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locate &amp; organize from anywhere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760720" y="274320"/>
            <a:ext cx="2377440" cy="4572000"/>
          </a:xfrm>
          <a:prstGeom prst="roundRect">
            <a:avLst>
              <a:gd name="adj" fmla="val 9615"/>
            </a:avLst>
          </a:prstGeom>
          <a:solidFill>
            <a:srgbClr val="111111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3872" y="384048"/>
            <a:ext cx="2231136" cy="4352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8AC833">
              <a:alpha val="15000"/>
            </a:srgbClr>
          </a:solidFill>
          <a:ln w="9525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E9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SOLUTIONS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Every Key and Optimize Your Inventory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Lot Management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64008" cy="1234440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Efficient Inventory Management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468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key and organize your entire inventory from arrival to sale with full Bluetooth-powered visibility.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" y="329184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29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Efficiencies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14400" y="39319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daily tasks and audits, creating significant time savings and reducing manual effort across the team.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645920"/>
            <a:ext cx="4206240" cy="2880360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16" name="Text 11"/>
          <p:cNvSpPr/>
          <p:nvPr/>
        </p:nvSpPr>
        <p:spPr>
          <a:xfrm>
            <a:off x="64008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This is not an anti-theft device.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8882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3657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8AC833">
              <a:alpha val="15000"/>
            </a:srgbClr>
          </a:solidFill>
          <a:ln w="9525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AC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OFFERINGS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8229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Service Workflow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Reconditioning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by valuable dealer feedback, Vehicle Vault has expanded into comprehensive service workflow management.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2468880"/>
            <a:ext cx="365760" cy="365760"/>
          </a:xfrm>
          <a:prstGeom prst="ellipse">
            <a:avLst/>
          </a:prstGeom>
          <a:solidFill>
            <a:srgbClr val="8AC83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5328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service progress in real-time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22960" y="3017520"/>
            <a:ext cx="365760" cy="365760"/>
          </a:xfrm>
          <a:prstGeom prst="ellipse">
            <a:avLst/>
          </a:prstGeom>
          <a:solidFill>
            <a:srgbClr val="8AC83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308152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identify and eliminate bottlenecks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22960" y="3566160"/>
            <a:ext cx="365760" cy="365760"/>
          </a:xfrm>
          <a:prstGeom prst="ellipse">
            <a:avLst/>
          </a:prstGeom>
          <a:solidFill>
            <a:srgbClr val="8AC83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36301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reconditioning for faster turnaround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822960" y="4114800"/>
            <a:ext cx="365760" cy="365760"/>
          </a:xfrm>
          <a:prstGeom prst="ellipse">
            <a:avLst/>
          </a:prstGeom>
          <a:solidFill>
            <a:srgbClr val="8AC83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17880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reliance on costly outside auditors</a:t>
            </a:r>
            <a:endParaRPr lang="en-US" sz="1200" dirty="0"/>
          </a:p>
        </p:txBody>
      </p:sp>
      <p:pic>
        <p:nvPicPr>
          <p:cNvPr id="19" name="Image 5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303520" y="1676400"/>
            <a:ext cx="3474720" cy="2316480"/>
          </a:xfrm>
          <a:prstGeom prst="rect">
            <a:avLst/>
          </a:prstGeom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8AC833">
              <a:alpha val="15000"/>
            </a:srgbClr>
          </a:solidFill>
          <a:ln w="9525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E9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SOLUTIONS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Unlock New Revenue Streams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F&amp;I Integration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56032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560320" cy="54864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Integrated F&amp;I Product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2025, Vehicle Vault hardware and software became available as a standalone F&amp;I product, seamlessly integrating into your sales process.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011680"/>
            <a:ext cx="256032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29000" y="20116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03320" y="23317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033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0332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Perceived Value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03320" y="342900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packages offer exceptional value to consumers. Additional key fobs, theft or key replacement benefits, and a dealer-branded app enhance ownership.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56032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2011680"/>
            <a:ext cx="2560320" cy="54864"/>
          </a:xfrm>
          <a:prstGeom prst="rect">
            <a:avLst/>
          </a:prstGeom>
          <a:solidFill>
            <a:srgbClr val="5E97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5E97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3017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Driving Gross Profit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42900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gross profit margins with zero chargebacks and flexible reinsured options, optimizing your dealership's financial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32004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8AC833">
              <a:alpha val="15000"/>
            </a:srgbClr>
          </a:solidFill>
          <a:ln w="9525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320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AC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APP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Dealer-Branded Mobile Experience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customers get a powerful, branded app with key tracking, vehicle management, rewards, and direct access to your dealership.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1874520"/>
            <a:ext cx="1737360" cy="3246120"/>
          </a:xfrm>
          <a:prstGeom prst="roundRect">
            <a:avLst>
              <a:gd name="adj" fmla="val 10526"/>
            </a:avLst>
          </a:prstGeom>
          <a:solidFill>
            <a:srgbClr val="111111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1947672"/>
            <a:ext cx="1627632" cy="30998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03320" y="1874520"/>
            <a:ext cx="1737360" cy="3246120"/>
          </a:xfrm>
          <a:prstGeom prst="roundRect">
            <a:avLst>
              <a:gd name="adj" fmla="val 10526"/>
            </a:avLst>
          </a:prstGeom>
          <a:solidFill>
            <a:srgbClr val="111111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8184" y="1947672"/>
            <a:ext cx="1627632" cy="309981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83680" y="1874520"/>
            <a:ext cx="1737360" cy="3246120"/>
          </a:xfrm>
          <a:prstGeom prst="roundRect">
            <a:avLst>
              <a:gd name="adj" fmla="val 10526"/>
            </a:avLst>
          </a:prstGeom>
          <a:solidFill>
            <a:srgbClr val="111111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1947672"/>
            <a:ext cx="1627632" cy="30998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1645920" cy="292608"/>
          </a:xfrm>
          <a:prstGeom prst="roundRect">
            <a:avLst>
              <a:gd name="adj" fmla="val 25000"/>
            </a:avLst>
          </a:prstGeom>
          <a:solidFill>
            <a:srgbClr val="8AC833">
              <a:alpha val="15000"/>
            </a:srgbClr>
          </a:solidFill>
          <a:ln w="9525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E9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Dealerships Choose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Vehicle Vault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2560320" cy="45720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240280"/>
            <a:ext cx="438912" cy="438912"/>
          </a:xfrm>
          <a:prstGeom prst="ellipse">
            <a:avLst/>
          </a:prstGeom>
          <a:solidFill>
            <a:srgbClr val="EEF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31343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167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 Track Record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top dealers nationwide for over a decade.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29000" y="19659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429000" y="1965960"/>
            <a:ext cx="2560320" cy="45720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0" y="2240280"/>
            <a:ext cx="438912" cy="438912"/>
          </a:xfrm>
          <a:prstGeom prst="ellipse">
            <a:avLst/>
          </a:prstGeom>
          <a:solidFill>
            <a:srgbClr val="EEF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2313432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51960" y="2167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Efficiency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25196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tracking and superior lot management capabilities.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96596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17920" y="1965960"/>
            <a:ext cx="2560320" cy="45720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446520" y="2240280"/>
            <a:ext cx="438912" cy="438912"/>
          </a:xfrm>
          <a:prstGeom prst="ellipse">
            <a:avLst/>
          </a:prstGeom>
          <a:solidFill>
            <a:srgbClr val="EEF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231343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40880" y="21671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Optimized Workflows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04088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service and reconditioning processes.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057400" y="352044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2057400" y="3520440"/>
            <a:ext cx="2560320" cy="45720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2286000" y="3794760"/>
            <a:ext cx="438912" cy="438912"/>
          </a:xfrm>
          <a:prstGeom prst="ellipse">
            <a:avLst/>
          </a:prstGeom>
          <a:solidFill>
            <a:srgbClr val="EEF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152" y="3867912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880360" y="3721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High-Value F&amp;I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2880360" y="40416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Insured packages boosting profit with no chargebacks.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846320" y="352044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846320" y="3520440"/>
            <a:ext cx="2560320" cy="45720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5074920" y="3794760"/>
            <a:ext cx="438912" cy="438912"/>
          </a:xfrm>
          <a:prstGeom prst="ellipse">
            <a:avLst/>
          </a:prstGeom>
          <a:solidFill>
            <a:srgbClr val="EEF7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8072" y="3867912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669280" y="3721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Enhanced Customer Experience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669280" y="40416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dealer-branded interactions throughout.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008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Our Dealers Say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the largest and most successful dealerships in the country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Longo Toyota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1847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Penske Motor Group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C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min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24323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repair order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C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days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5800" y="29077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car in recon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" y="3145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C8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min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" y="3383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vehicle delivery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85800" y="3703320"/>
            <a:ext cx="2194560" cy="0"/>
          </a:xfrm>
          <a:prstGeom prst="line">
            <a:avLst/>
          </a:prstGeom>
          <a:noFill/>
          <a:ln w="12700">
            <a:solidFill>
              <a:srgbClr val="EEF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9476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5800" y="4023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delivers on its promises. Locating a vehicle went from 25 minutes to seconds. Every dealer needs these results.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685800" y="45720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Mark Seipel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685800" y="470916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Operations Director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291840" y="1371600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291840" y="137160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52044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 Brown Ford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3520440" y="1847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Penske Automotive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352044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2,000+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520440" y="24323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tracked across lots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520440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3520440" y="29077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adoption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520440" y="3145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3520440" y="3383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location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520440" y="3703320"/>
            <a:ext cx="2194560" cy="0"/>
          </a:xfrm>
          <a:prstGeom prst="line">
            <a:avLst/>
          </a:prstGeom>
          <a:noFill/>
          <a:ln w="12700">
            <a:solidFill>
              <a:srgbClr val="EEF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794760"/>
            <a:ext cx="201168" cy="20116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520440" y="4023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instantly locates 2,000 vehicles on multiple lots all over town. We get cars customer-delivered without delays.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3520440" y="45720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Dave Bird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3520440" y="470916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 Inventory Manager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6126480" y="1371600"/>
            <a:ext cx="265176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6126480" y="1371600"/>
            <a:ext cx="2651760" cy="54864"/>
          </a:xfrm>
          <a:prstGeom prst="rect">
            <a:avLst/>
          </a:prstGeom>
          <a:solidFill>
            <a:srgbClr val="5E97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/>
          <p:nvPr/>
        </p:nvSpPr>
        <p:spPr>
          <a:xfrm>
            <a:off x="6355080" y="1554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Brandon Honda</a:t>
            </a:r>
            <a:endParaRPr lang="en-US" sz="1500" dirty="0"/>
          </a:p>
        </p:txBody>
      </p:sp>
      <p:sp>
        <p:nvSpPr>
          <p:cNvPr id="39" name="Text 34"/>
          <p:cNvSpPr/>
          <p:nvPr/>
        </p:nvSpPr>
        <p:spPr>
          <a:xfrm>
            <a:off x="6355080" y="1847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Automotive Group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6355080" y="21945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97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41 min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6355080" y="24323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repair order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6355080" y="2670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97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$308K/mo</a:t>
            </a:r>
            <a:endParaRPr lang="en-US" sz="1600" dirty="0"/>
          </a:p>
        </p:txBody>
      </p:sp>
      <p:sp>
        <p:nvSpPr>
          <p:cNvPr id="43" name="Text 38"/>
          <p:cNvSpPr/>
          <p:nvPr/>
        </p:nvSpPr>
        <p:spPr>
          <a:xfrm>
            <a:off x="6355080" y="29077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F&amp;I revenue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6355080" y="3145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97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6355080" y="3383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keys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6355080" y="3703320"/>
            <a:ext cx="2194560" cy="0"/>
          </a:xfrm>
          <a:prstGeom prst="line">
            <a:avLst/>
          </a:prstGeom>
          <a:noFill/>
          <a:ln w="12700">
            <a:solidFill>
              <a:srgbClr val="EEF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794760"/>
            <a:ext cx="201168" cy="20116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355080" y="40233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longer loses keys, shaved 41 minutes per RO in service, and generates an additional $308K per month selling VehicleVault.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914400" y="4846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Dealer Data  |  mdd.io  |  We Find Keys &amp; Cars™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6576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8AC833">
              <a:alpha val="15000"/>
            </a:srgbClr>
          </a:solidFill>
          <a:ln w="9525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E97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Simple, Transparent Pricing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value with no hidden fees, no long-term contracts, and no integration costs.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256032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2560320" cy="54864"/>
          </a:xfrm>
          <a:prstGeom prst="rect">
            <a:avLst/>
          </a:prstGeom>
          <a:solidFill>
            <a:srgbClr val="8AC8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2860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Lot Management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97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 at $55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vehicle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97280" y="3840480"/>
            <a:ext cx="1645920" cy="0"/>
          </a:xfrm>
          <a:prstGeom prst="line">
            <a:avLst/>
          </a:prstGeom>
          <a:noFill/>
          <a:ln w="12700">
            <a:solidFill>
              <a:srgbClr val="EEF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3931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Bluetooth tracking for vehicles and keys, real-time location via mobile app, and daily audit tools — no long-term contracts or technology fees.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29000" y="2011680"/>
            <a:ext cx="256032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429000" y="20116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8600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0332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Workflow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70332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Included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370332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qualifying volume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886200" y="3840480"/>
            <a:ext cx="1645920" cy="0"/>
          </a:xfrm>
          <a:prstGeom prst="line">
            <a:avLst/>
          </a:prstGeom>
          <a:noFill/>
          <a:ln w="12700">
            <a:solidFill>
              <a:srgbClr val="EEF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703320" y="3931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reconditioning tracking and service progress monitoring to eliminate bottlenecks and reduce outside auditor costs.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217920" y="2011680"/>
            <a:ext cx="2560320" cy="2880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217920" y="2011680"/>
            <a:ext cx="2560320" cy="54864"/>
          </a:xfrm>
          <a:prstGeom prst="rect">
            <a:avLst/>
          </a:prstGeom>
          <a:solidFill>
            <a:srgbClr val="5E97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286000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9224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E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F&amp;I Integration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9224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E97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6492240" y="3474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term &amp; package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675120" y="3840480"/>
            <a:ext cx="1645920" cy="0"/>
          </a:xfrm>
          <a:prstGeom prst="line">
            <a:avLst/>
          </a:prstGeom>
          <a:noFill/>
          <a:ln w="12700">
            <a:solidFill>
              <a:srgbClr val="EEF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492240" y="3931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varies based on term length and benefit package. Contact your Mobile Dealer Data representative for a customized quote.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0" y="457200"/>
            <a:ext cx="45720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1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68880" y="612726"/>
            <a:ext cx="4206240" cy="10605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AC83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Ready to Transform Your Dealership?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371600" y="2560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miss the opportunity to improve efficiency and profitability.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Mobile Dealer Data today to discover how Vehicle Vault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F0F1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precisely tailored to your unique business needs.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2560320" y="365760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8AC83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37490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063240" y="3657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 Demo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4754880" y="3657600"/>
            <a:ext cx="2377440" cy="502920"/>
          </a:xfrm>
          <a:prstGeom prst="roundRect">
            <a:avLst>
              <a:gd name="adj" fmla="val 21818"/>
            </a:avLst>
          </a:prstGeom>
          <a:solidFill>
            <a:srgbClr val="8AC833">
              <a:alpha val="15000"/>
            </a:srgbClr>
          </a:solidFill>
          <a:ln w="19050">
            <a:solidFill>
              <a:srgbClr val="8AC8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74904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57800" y="36576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844-292-7110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0" y="4572000"/>
            <a:ext cx="9144000" cy="54864"/>
          </a:xfrm>
          <a:prstGeom prst="rect">
            <a:avLst/>
          </a:prstGeom>
          <a:solidFill>
            <a:srgbClr val="8AC83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/>
          <p:cNvSpPr/>
          <p:nvPr/>
        </p:nvSpPr>
        <p:spPr>
          <a:xfrm>
            <a:off x="91440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Dealer Data  |  mdd.io  |  We Find Keys &amp; Cars™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</TotalTime>
  <Words>811</Words>
  <Application>Microsoft Macintosh PowerPoint</Application>
  <PresentationFormat>On-screen Show (16:9)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Vault by Mobile Dealer Data</dc:title>
  <dc:subject>PptxGenJS Presentation</dc:subject>
  <dc:creator>Mobile Dealer Data</dc:creator>
  <cp:lastModifiedBy>Colin McElhatton</cp:lastModifiedBy>
  <cp:revision>3</cp:revision>
  <dcterms:created xsi:type="dcterms:W3CDTF">2026-03-10T20:14:50Z</dcterms:created>
  <dcterms:modified xsi:type="dcterms:W3CDTF">2026-03-11T13:44:59Z</dcterms:modified>
</cp:coreProperties>
</file>