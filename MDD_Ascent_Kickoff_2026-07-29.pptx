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inspiring-heisenberg/mnt/mdd-marketing-machine/assets/dealership-images/dealer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4">
              <a:alpha val="90000"/>
            </a:srgbClr>
          </a:solidFill>
          <a:ln/>
        </p:spPr>
      </p:sp>
      <p:pic>
        <p:nvPicPr>
          <p:cNvPr id="4" name="Image 1" descr="/sessions/vigilant-inspiring-heisenberg/mnt/outputs/deckassets/mdd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2432304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KICKOFF  ·  JULY 29, 2026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2926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Dealer Data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Ascent Dealer Services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focus product for the next six months.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8580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Find Keys &amp; Cars™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mdd.io  ·  844-292-7110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pick one product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six months.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picked ours.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focus is exactly why this works — and why we're here with our whole playbook.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2519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job: give your team what you need to walk into a dealership and win the GPS conversation. Enough to sell with confidence — not so much it slows you down. The pricing guide in your hands covers the rest.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777240"/>
            <a:ext cx="4846320" cy="5257800"/>
          </a:xfrm>
          <a:prstGeom prst="roundRect">
            <a:avLst>
              <a:gd name="adj" fmla="val 1509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1481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35240" y="14813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MDD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03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2037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GPS — the problems dealers already know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35240" y="2926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FTC changed the math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6484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36484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Removable by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4370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35240" y="43708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Reinsurance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5093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50932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demo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MDD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at the world's largest dealerships.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dealerships on the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874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market, built on dealer feedback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74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keys after install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Bluetooth platform, three products: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Management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key &amp; vehicle tracking — every unit, every key, multi-lot and multi-floor.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3977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Recon Workflow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4526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LocateIQ — physical location advances the workflow. No manual logging.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3977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VehicleVault F&amp;I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526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Theft &amp; key protection sold or addended per vehicle. Recurring revenue, zero chargebacks.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the best-run stores on earth: 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Longo Toyota (world's largest Toyota dealer)  ·  Bill Brown Ford  ·  Lithia (NYSE: LAD)  ·  Penske Automotive  ·  Morgan Automotive / Brandon Honda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INCUMBENT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legacy GPS playbook. So do your dealers.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Hardwired install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into the battery on every unit. Tech labor per car, battery drain, and wiring a thief can find and cut.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warranty exposure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into the vehicle invites warranty challenges — a fight the dealer has to have with their OEM, not the GPS vendor.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82880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1248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Drive-off expense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30% sell-through, 70% of wired devices leave in cars that never bought the product. Hardware and install labor — gone.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10835640" cy="1234440"/>
          </a:xfrm>
          <a:prstGeom prst="roundRect">
            <a:avLst>
              <a:gd name="adj" fmla="val 5926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DRIVE-OFF MATH  ·  200-CAR STORE, 30% SELL-THROUGH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5138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5550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drive off / 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5138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0" y="5550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device cost (140 × $60)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5138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5550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install labor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5138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5550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every 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FTC ended the old first pencil.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a price that excludes the addendum — then leading with the higher addendum price at the desk — doesn't survive compliance scrutiny anymore.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0632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move to a compliant, transparent process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08960" y="35753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77647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764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sell-through drops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08960" y="42885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48970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4897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devices drive off, wired in and unrecoverable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08960" y="5001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20293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2029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the dealer bought stops penciling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22272E"/>
          </a:solidFill>
          <a:ln w="19050">
            <a:solidFill>
              <a:srgbClr val="8AC8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CONQUEST WINDOW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23957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running hard-wired GPS are re-doing this math right now.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333756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removable device changes the equation: unsold unit, pull it, reuse it.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option keeps the product on every unit — compliantly, without requiring an F&amp;I sale.</a:t>
            </a:r>
            <a:endParaRPr lang="en-US" sz="13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holds. Drive-off cost goes to zero.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door your team walks through.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Removable by design.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737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in seconds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0665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wiring, no technician, no install labor per unit.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5786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vehicle modification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9077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spliced, nothing drilled — no OEM warranty threat to defend.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4198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it. Reuse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Unsold unit drives off? The device doesn't. Recycled to the next car — zero dead cost.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2611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tracked too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5902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key gets a Bluetooth tag — no extra hardware cost, and lost-key spend goes to zero.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1023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Addendum-ready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54315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penetration on every unit without requiring an F&amp;I sale.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pic>
        <p:nvPicPr>
          <p:cNvPr id="20" name="Image 0" descr="/sessions/vigilant-inspiring-heisenberg/mnt/mdd-marketing-machine/assets/equipment/Green Placard with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91640"/>
            <a:ext cx="3291840" cy="3291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26680" y="5074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placard — dealer colors, hangs on the mirror, off in seconds.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book.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 decide participation income. Most products get one or two. This one hits all three.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penetration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retail delivery leaves with the device — preload on every unit, upgrade in the box.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recurring premium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3101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that actually moves the book, month after month — not a low-attachment add-on.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1945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loss ratio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3101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tracking benefit rarely pays a claim. The spread between premium and claims stays in the book.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10835640" cy="1234440"/>
          </a:xfrm>
          <a:prstGeom prst="roundRect">
            <a:avLst>
              <a:gd name="adj" fmla="val 5926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chargebacks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MDD dealers — non-cancelable structure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structure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0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CFC, NCFC, or DOWC — it drops into what you already run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economics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3880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provider sets reserves, admin, and commissions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rooftop looks like.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model — a 200-unit store at 30% sell-through. Your program, your pricing.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ASCENT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month, per rooftop — recurring, no chargebacks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$70,800 / year on one store</a:t>
            </a:r>
            <a:endParaRPr lang="en-US" sz="13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rooftops ≈ $29,500 / month</a:t>
            </a:r>
            <a:endParaRPr lang="en-US" sz="130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the dealer price — your margin on the preload, your commission on the upgrade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DEALER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$140K+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in total store impact — that's what keeps them sold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114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saved per sale · 15 min per RO</a:t>
            </a:r>
            <a:endParaRPr lang="en-US" sz="13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 from 10 days to under 5</a:t>
            </a:r>
            <a:endParaRPr lang="en-US" sz="130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$24K/mo F&amp;I profit at 30% sell-through — plus the $9,800/mo GPS was wasting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9436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pro-forma and pricing: the one-pager in your hands. Figures are a sample program — your provider builds the final numbers.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look at the system.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key. Every car. Real time — the lot, the service lane, and recon,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96896" y="2103120"/>
            <a:ext cx="6995160" cy="4114800"/>
          </a:xfrm>
          <a:prstGeom prst="roundRect">
            <a:avLst>
              <a:gd name="adj" fmla="val 1778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pic>
        <p:nvPicPr>
          <p:cNvPr id="6" name="Image 0" descr="/sessions/vigilant-inspiring-heisenberg/mnt/mdd-marketing-machine/assets/screenshots/desktop/MDD Lo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1216" y="2331720"/>
            <a:ext cx="644652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× Ascent Dealer Services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inspiring-heisenberg/mnt/mdd-marketing-machine/assets/dealership-images/dealer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4">
              <a:alpha val="9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SIX MONTHS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sell it. We make it stick.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8580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CSM — for life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from kickoff through the life of every dealer. No handoffs, no substitutions.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handles the heavy lifting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63440" y="3063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Install, pairing, role-based training, and 4-week HyperCare on every store you sign.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83880" y="21488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2272E"/>
          </a:solidFill>
          <a:ln w="12700">
            <a:solidFill>
              <a:srgbClr val="2D323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your first pitch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0" y="3063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One-pager in hand today. Demo access and co-selling support whenever you want us in the room.</a:t>
            </a:r>
            <a:endParaRPr lang="en-US" sz="1250" dirty="0"/>
          </a:p>
        </p:txBody>
      </p:sp>
      <p:pic>
        <p:nvPicPr>
          <p:cNvPr id="15" name="Image 1" descr="/sessions/vigilant-inspiring-heisenberg/mnt/outputs/deckassets/mdd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92040"/>
            <a:ext cx="2130552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C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Find Keys &amp; Cars™</a:t>
            </a:r>
            <a:pPr indent="0" marL="0">
              <a:buNone/>
            </a:pPr>
            <a:r>
              <a:rPr lang="en-US" sz="1300" dirty="0">
                <a:solidFill>
                  <a:srgbClr val="D6D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mdd.io  ·  844-292-7110  ·  5600 Pioneer Creek Drive, Maple Plain, MN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2026-07-24T16:33:52Z</dcterms:created>
  <dcterms:modified xsi:type="dcterms:W3CDTF">2026-07-24T16:33:52Z</dcterms:modified>
</cp:coreProperties>
</file>